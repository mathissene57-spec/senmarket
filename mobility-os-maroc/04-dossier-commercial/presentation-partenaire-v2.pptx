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478"/>
                </a:solidFill>
                <a:latin typeface="Calibri"/>
              </a:rPr>
              <a:t>GMV mensuel estimé (DH)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mensuel (DH)</c:v>
                </c:pt>
              </c:strCache>
            </c:strRef>
          </c:tx>
          <c:spPr>
            <a:solidFill>
              <a:srgbClr val="C960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8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Mois 1</c:v>
                  </c:pt>
                  <c:pt idx="1">
                    <c:v>Mois 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108000</c:v>
                </c:pt>
                <c:pt idx="1">
                  <c:v>270000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8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601C"/>
              </a:solidFill>
              <a:effectLst/>
            </c:spPr>
          </c:dPt>
          <c:dPt>
            <c:idx val="1"/>
            <c:bubble3D val="0"/>
            <c:spPr>
              <a:solidFill>
                <a:srgbClr val="141E3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Opérateur</c:v>
                </c:pt>
                <c:pt idx="1">
                  <c:v>FlowDynamicsAgency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AA6C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Rester factuel — c'est un constat de marché, pas une critique du partenaire. Objectif : poser le problème avant de montrer la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principe white-label avant de le montrer en direct sur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sur le navigateur ici et dérouler le parcours complet en direct : passager commande, chauffeur reçoit et accepte, dashboard se met à jour — les trois en simultané si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charnière de la présentation : ce n'est plus un pitch sur ce qu'on pourrait construire, c'est un compte-rendu de ce qui existe déjà et qu'on va tester ensemble aujourd'hui.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chiffre ici est verifiable en direct si le partenaire pose la question — ce n'est pas une allégation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les 3 leviers sans encore donner les chiffres — le chiffrage vient à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'hypothèse de travail, à ajuster ensemble' — ce n'est pas une offre figée.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Proposer explicitement de signer l'EOI sur place. Repartir avec une prochaine date/action concrète en tête, jamais 'on se rappelle'.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image" Target="../media/image-13-1.png"/><Relationship Id="rId8" Type="http://schemas.openxmlformats.org/officeDocument/2006/relationships/image" Target="../media/image-13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625535" y="1874520"/>
            <a:ext cx="3108960" cy="3108960"/>
          </a:xfrm>
          <a:prstGeom prst="ellipse">
            <a:avLst/>
          </a:prstGeom>
          <a:ln w="15875">
            <a:solidFill>
              <a:srgbClr val="26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9755" y="1348740"/>
            <a:ext cx="4160520" cy="4160520"/>
          </a:xfrm>
          <a:prstGeom prst="ellipse">
            <a:avLst/>
          </a:prstGeom>
          <a:ln w="15875">
            <a:solidFill>
              <a:srgbClr val="2631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3975" y="822960"/>
            <a:ext cx="5212080" cy="5212080"/>
          </a:xfrm>
          <a:prstGeom prst="ellipse">
            <a:avLst/>
          </a:prstGeom>
          <a:ln w="15875">
            <a:solidFill>
              <a:srgbClr val="2631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FLOWDYNAMICSAGENCY  ·  PRÉSENTATION PARTENAIRE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mobilité,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prête à porter votre marque.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 — un seul moteur technique, déployé et testé, que chaque opérateur exploite sous son propre nom.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1097280" cy="0"/>
          </a:xfrm>
          <a:prstGeom prst="line">
            <a:avLst/>
          </a:prstGeom>
          <a:noFill/>
          <a:ln w="31750">
            <a:solidFill>
              <a:srgbClr val="C96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— PRÉSENTATION PARTENAIRE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94015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mobility-os-maroc.vercel.app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seul coûte cher.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Dépendre d'un tiers coûte plus cher encore.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074920" cy="2880360"/>
          </a:xfrm>
          <a:prstGeom prst="roundRect">
            <a:avLst>
              <a:gd name="adj" fmla="val 3175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880360"/>
            <a:ext cx="640080" cy="64008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8" name="Image 0" descr="/tmp/claude-0/-home-user-senmarket/ad06b58a-6687-5c78-b7b2-a2bff4010c5b/scratchpad/deck/icons/build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3046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L'opérateur local n'a ni le budget ni l'équipe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4348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app de mobilité comparable aux standards du marché prend des mois et une équipe technique que la plupart des coopératives de taxis ou flottes régionales n'ont pas.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514600"/>
            <a:ext cx="5074920" cy="2880360"/>
          </a:xfrm>
          <a:prstGeom prst="roundRect">
            <a:avLst>
              <a:gd name="adj" fmla="val 3175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2880360"/>
            <a:ext cx="640080" cy="64008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3" name="Image 1" descr="/tmp/claude-0/-home-user-senmarket/ad06b58a-6687-5c78-b7b2-a2bff4010c5b/scratchpad/deck/icons/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30467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3796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plateformes internationales ne partagent rien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4348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marque propre, pas de partage de revenu, et l'opérateur se retrouve mis en concurrence avec lui-même sur sa propre flotte.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moteur. Trois interfaces.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marque sur les trois.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31012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E3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9384" y="3017520"/>
            <a:ext cx="731520" cy="731520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8" name="Image 0" descr="/tmp/claude-0/-home-user-senmarket/ad06b58a-6687-5c78-b7b2-a2bff4010c5b/scratchpad/deck/icons/smartphon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579" y="32077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9776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43484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une course, voit le prix à l'avance, suit le chauffeur en direct, paie et note.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42816" y="2606040"/>
            <a:ext cx="331012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E3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32120" y="3017520"/>
            <a:ext cx="731520" cy="731520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13" name="Image 1" descr="/tmp/claude-0/-home-user-senmarket/ad06b58a-6687-5c78-b7b2-a2bff4010c5b/scratchpad/deck/icons/navigat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315" y="32077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71416" y="39776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Chauffeur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17136" y="443484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demandes en temps réel, accepte, navigue, encaisse — sans changer ses habitudes.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45552" y="2606040"/>
            <a:ext cx="331012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E3E6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34856" y="3017520"/>
            <a:ext cx="731520" cy="731520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18" name="Image 2" descr="/tmp/claude-0/-home-user-senmarket/ad06b58a-6687-5c78-b7b2-a2bff4010c5b/scratchpad/deck/icons/bar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51" y="32077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74152" y="397764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Opérateur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119872" y="443484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sa flotte, ses tarifs et son chiffre d'affaires depuis un dashboard à son nom.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reste commun à tous les opérateurs : le moteur de dispatch, la logique de prix, le modèle de données. Ce qui change : le nom, le logo, les couleurs, les zones et les tarifs.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écrans, une seule course.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95348" y="2331720"/>
            <a:ext cx="2331720" cy="4160520"/>
          </a:xfrm>
          <a:prstGeom prst="roundRect">
            <a:avLst>
              <a:gd name="adj" fmla="val 8627"/>
            </a:avLst>
          </a:prstGeom>
          <a:solidFill>
            <a:srgbClr val="0B1220"/>
          </a:solidFill>
          <a:ln/>
        </p:spPr>
      </p:sp>
      <p:sp>
        <p:nvSpPr>
          <p:cNvPr id="7" name="Shape 5"/>
          <p:cNvSpPr/>
          <p:nvPr/>
        </p:nvSpPr>
        <p:spPr>
          <a:xfrm>
            <a:off x="2177644" y="2414016"/>
            <a:ext cx="2167128" cy="3995928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177644" y="2414016"/>
            <a:ext cx="2167128" cy="502920"/>
          </a:xfrm>
          <a:prstGeom prst="roundRect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42236" y="2414016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 · Accueil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4804" y="3054096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E7EAF3"/>
          </a:solidFill>
          <a:ln/>
        </p:spPr>
      </p:sp>
      <p:sp>
        <p:nvSpPr>
          <p:cNvPr id="11" name="Shape 9"/>
          <p:cNvSpPr/>
          <p:nvPr/>
        </p:nvSpPr>
        <p:spPr>
          <a:xfrm>
            <a:off x="2314804" y="4197096"/>
            <a:ext cx="1892808" cy="777240"/>
          </a:xfrm>
          <a:prstGeom prst="roundRect">
            <a:avLst>
              <a:gd name="adj" fmla="val 9412"/>
            </a:avLst>
          </a:prstGeom>
          <a:solidFill>
            <a:srgbClr val="F5F6FA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51964" y="428853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estimé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51964" y="45445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DH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14804" y="5815584"/>
            <a:ext cx="1892808" cy="457200"/>
          </a:xfrm>
          <a:prstGeom prst="roundRect">
            <a:avLst>
              <a:gd name="adj" fmla="val 16000"/>
            </a:avLst>
          </a:prstGeom>
          <a:solidFill>
            <a:srgbClr val="C960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14804" y="581558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29988" y="2331720"/>
            <a:ext cx="2331720" cy="4160520"/>
          </a:xfrm>
          <a:prstGeom prst="roundRect">
            <a:avLst>
              <a:gd name="adj" fmla="val 8627"/>
            </a:avLst>
          </a:prstGeom>
          <a:solidFill>
            <a:srgbClr val="0B122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2284" y="2414016"/>
            <a:ext cx="2167128" cy="3995928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2284" y="2414016"/>
            <a:ext cx="2167128" cy="502920"/>
          </a:xfrm>
          <a:prstGeom prst="roundRect">
            <a:avLst/>
          </a:prstGeom>
          <a:solidFill>
            <a:srgbClr val="C960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76876" y="2414016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· Demande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49444" y="30540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course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49444" y="3419856"/>
            <a:ext cx="1892808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6604" y="3511296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Zerktouni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286604" y="3831336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 Casa-Voyageurs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149444" y="442569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gagnez 32 DH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49444" y="5815584"/>
            <a:ext cx="90068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418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49444" y="5815584"/>
            <a:ext cx="90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1568" y="5815584"/>
            <a:ext cx="900684" cy="457200"/>
          </a:xfrm>
          <a:prstGeom prst="roundRect">
            <a:avLst>
              <a:gd name="adj" fmla="val 16000"/>
            </a:avLst>
          </a:prstGeom>
          <a:solidFill>
            <a:srgbClr val="C960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1568" y="5815584"/>
            <a:ext cx="90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64628" y="2331720"/>
            <a:ext cx="2331720" cy="4160520"/>
          </a:xfrm>
          <a:prstGeom prst="roundRect">
            <a:avLst>
              <a:gd name="adj" fmla="val 8627"/>
            </a:avLst>
          </a:prstGeom>
          <a:solidFill>
            <a:srgbClr val="0B1220"/>
          </a:solidFill>
          <a:ln/>
        </p:spPr>
      </p:sp>
      <p:sp>
        <p:nvSpPr>
          <p:cNvPr id="30" name="Shape 28"/>
          <p:cNvSpPr/>
          <p:nvPr/>
        </p:nvSpPr>
        <p:spPr>
          <a:xfrm>
            <a:off x="7846924" y="2414016"/>
            <a:ext cx="2167128" cy="3995928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846924" y="2414016"/>
            <a:ext cx="2167128" cy="502920"/>
          </a:xfrm>
          <a:prstGeom prst="roundRect">
            <a:avLst/>
          </a:prstGeom>
          <a:solidFill>
            <a:srgbClr val="1E8E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11516" y="2414016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Aperçu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84084" y="3054096"/>
            <a:ext cx="1892808" cy="64008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02956" y="312724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aujourd'hui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102956" y="3346704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84084" y="3831336"/>
            <a:ext cx="1892808" cy="64008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02956" y="390448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8102956" y="4123944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 DH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984084" y="4608576"/>
            <a:ext cx="1892808" cy="64008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9525">
            <a:solidFill>
              <a:srgbClr val="E3E6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02956" y="468172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actifs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102956" y="4901184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3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74827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Testez-le vous-même, en direct — mobility-os-maroc.vercel.app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D'EXÉCUTION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plus une maquette.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074920" cy="4069080"/>
          </a:xfrm>
          <a:prstGeom prst="roundRect">
            <a:avLst>
              <a:gd name="adj" fmla="val 2247"/>
            </a:avLst>
          </a:prstGeom>
          <a:solidFill>
            <a:srgbClr val="141E33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860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QUELQUES JOURS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Maquette cliquable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383280"/>
            <a:ext cx="310896" cy="310896"/>
          </a:xfrm>
          <a:prstGeom prst="ellipse">
            <a:avLst/>
          </a:prstGeom>
          <a:solidFill>
            <a:srgbClr val="2A3550"/>
          </a:solidFill>
          <a:ln/>
        </p:spPr>
      </p:sp>
      <p:pic>
        <p:nvPicPr>
          <p:cNvPr id="10" name="Image 0" descr="/tmp/claude-0/-home-user-senmarket/ad06b58a-6687-5c78-b7b2-a2bff4010c5b/scratchpad/deck/icons/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673" y="3464113"/>
            <a:ext cx="149230" cy="14923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26464" y="33284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figées, aucune base réelle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5840" y="4005072"/>
            <a:ext cx="310896" cy="310896"/>
          </a:xfrm>
          <a:prstGeom prst="ellipse">
            <a:avLst/>
          </a:prstGeom>
          <a:solidFill>
            <a:srgbClr val="2A3550"/>
          </a:solidFill>
          <a:ln/>
        </p:spPr>
      </p:sp>
      <p:pic>
        <p:nvPicPr>
          <p:cNvPr id="13" name="Image 1" descr="/tmp/claude-0/-home-user-senmarket/ad06b58a-6687-5c78-b7b2-a2bff4010c5b/scratchpad/deck/icons/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73" y="4085905"/>
            <a:ext cx="149230" cy="1492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26464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compte, aucune vraie course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005840" y="4626864"/>
            <a:ext cx="310896" cy="310896"/>
          </a:xfrm>
          <a:prstGeom prst="ellipse">
            <a:avLst/>
          </a:prstGeom>
          <a:solidFill>
            <a:srgbClr val="2A3550"/>
          </a:solidFill>
          <a:ln/>
        </p:spPr>
      </p:sp>
      <p:pic>
        <p:nvPicPr>
          <p:cNvPr id="16" name="Image 2" descr="/tmp/claude-0/-home-user-senmarket/ad06b58a-6687-5c78-b7b2-a2bff4010c5b/scratchpad/deck/icons/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73" y="4707697"/>
            <a:ext cx="149230" cy="1492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26464" y="4572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tester en dehors d'un ordinateur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005840" y="5248656"/>
            <a:ext cx="310896" cy="310896"/>
          </a:xfrm>
          <a:prstGeom prst="ellipse">
            <a:avLst/>
          </a:prstGeom>
          <a:solidFill>
            <a:srgbClr val="2A3550"/>
          </a:solidFill>
          <a:ln/>
        </p:spPr>
      </p:sp>
      <p:pic>
        <p:nvPicPr>
          <p:cNvPr id="19" name="Image 3" descr="/tmp/claude-0/-home-user-senmarket/ad06b58a-6687-5c78-b7b2-a2bff4010c5b/scratchpad/deck/icons/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673" y="5329489"/>
            <a:ext cx="149230" cy="14923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26464" y="5193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idée qu'on décrit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72200" y="1965960"/>
            <a:ext cx="5074920" cy="4069080"/>
          </a:xfrm>
          <a:prstGeom prst="roundRect">
            <a:avLst>
              <a:gd name="adj" fmla="val 2247"/>
            </a:avLst>
          </a:prstGeom>
          <a:solidFill>
            <a:srgbClr val="1B2A3F"/>
          </a:solidFill>
          <a:ln w="19050">
            <a:solidFill>
              <a:srgbClr val="C9601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537960" y="22860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26060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 réel, en ligne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6537960" y="3383280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5" name="Image 4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793" y="3464113"/>
            <a:ext cx="149230" cy="1492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58584" y="33284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réelle (Supabase), dispatch en temps réel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537960" y="4005072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8" name="Image 5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793" y="4085905"/>
            <a:ext cx="149230" cy="14923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58584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entre chauffeurs testée et vérifiée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537960" y="4626864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1" name="Image 6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793" y="4707697"/>
            <a:ext cx="149230" cy="14923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58584" y="4572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de sécurité identifiée et corrigée avant tout lancement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6537960" y="5248656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4" name="Image 7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793" y="5329489"/>
            <a:ext cx="149230" cy="14923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58584" y="5193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et accessible depuis n'importe où, dès maintenant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TECHNIQUE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Testé avant d'être montré, pas pendant.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2926080"/>
            <a:ext cx="585216" cy="58521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8" name="Image 0" descr="/tmp/claude-0/-home-user-senmarket/ad06b58a-6687-5c78-b7b2-a2bff4010c5b/scratchpad/deck/icons/z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9788" y="3078236"/>
            <a:ext cx="280904" cy="280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seul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297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gagne quand deux acceptent la même course en même temps — concurrence testée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2606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43984" y="2926080"/>
            <a:ext cx="585216" cy="58521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3" name="Image 1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140" y="3078236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9312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685032" y="4297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régression automatisés sur le cycle de vie complet d'une course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2606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60336" y="2926080"/>
            <a:ext cx="585216" cy="58521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8" name="Image 2" descr="/tmp/claude-0/-home-user-senmarket/ad06b58a-6687-5c78-b7b2-a2bff4010c5b/scratchpad/deck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92" y="307823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faille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4297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sécurité trouvée à l'audit et corrigée avant tout lancement public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89136" y="2606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76688" y="2926080"/>
            <a:ext cx="585216" cy="58521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3" name="Image 3" descr="/tmp/claude-0/-home-user-senmarket/ad06b58a-6687-5c78-b7b2-a2bff4010c5b/scratchpad/deck/icons/wifi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844" y="3078236"/>
            <a:ext cx="280904" cy="2809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72016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317736" y="4297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produit déployé et accessible en ligne dès aujourd'hui, pas en démo locale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moteur. Autant de marques que d'opérateurs.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0" y="3657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OS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(moteur)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0" y="237744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F5F6FA"/>
          </a:solidFill>
          <a:ln w="15875">
            <a:solidFill>
              <a:srgbClr val="E3E6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3774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Opérateur 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4343400"/>
            <a:ext cx="1920240" cy="-1591056"/>
          </a:xfrm>
          <a:prstGeom prst="line">
            <a:avLst/>
          </a:prstGeom>
          <a:noFill/>
          <a:ln w="15875">
            <a:solidFill>
              <a:srgbClr val="8890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3346704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F5F6FA"/>
          </a:solidFill>
          <a:ln w="15875">
            <a:solidFill>
              <a:srgbClr val="E3E6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34670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Opérateur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4343400"/>
            <a:ext cx="1920240" cy="-621792"/>
          </a:xfrm>
          <a:prstGeom prst="line">
            <a:avLst/>
          </a:prstGeom>
          <a:noFill/>
          <a:ln w="15875">
            <a:solidFill>
              <a:srgbClr val="8890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4315968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C9601C"/>
          </a:solidFill>
          <a:ln w="15875">
            <a:solidFill>
              <a:srgbClr val="C960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43159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marque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4343400"/>
            <a:ext cx="1920240" cy="347472"/>
          </a:xfrm>
          <a:prstGeom prst="line">
            <a:avLst/>
          </a:prstGeom>
          <a:noFill/>
          <a:ln w="15875">
            <a:solidFill>
              <a:srgbClr val="8890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440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Personnalisable par opérateur : nom, logo, couleurs, zones, tarifs, chauffeurs.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5440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partagé entre opérateurs : le dispatch reste strictement intra-flotte.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COMMERCIAL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leviers, alignés sur votre réussite.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310128" cy="27432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926080"/>
            <a:ext cx="566928" cy="566928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8" name="Image 0" descr="/tmp/claude-0/-home-user-senmarket/ad06b58a-6687-5c78-b7b2-a2bff4010c5b/scratchpad/deck/icons/doll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30734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Frais de mise en service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fois, à l'onboarding. Couvre la configuration : marque, zones, tarifs, formation.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42816" y="2606040"/>
            <a:ext cx="3310128" cy="27432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2856" y="2926080"/>
            <a:ext cx="566928" cy="566928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13" name="Image 1" descr="/tmp/claude-0/-home-user-senmarket/ad06b58a-6687-5c78-b7b2-a2bff4010c5b/scratchpad/deck/icons/repe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57" y="30734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17136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Abonnement mensuel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17136" y="429768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Prévisible, couvre l'hébergement, la maintenance et le support technique continu.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45552" y="2606040"/>
            <a:ext cx="3310128" cy="27432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65592" y="2926080"/>
            <a:ext cx="566928" cy="566928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18" name="Image 2" descr="/tmp/claude-0/-home-user-senmarket/ad06b58a-6687-5c78-b7b2-a2bff4010c5b/scratchpad/deck/icons/percen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993" y="30734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19872" y="37033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sur les courses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19872" y="429768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pourcentage du montant de chaque course. On gagne quand vous gagnez.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6235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Vous payez peu au départ, on gagne quand vous gagnez. »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 INDICATIF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hypothèse de travail, ajustable ensemble.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4884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2148840"/>
            <a:ext cx="5196535" cy="3429000"/>
          </a:xfrm>
          <a:prstGeom prst="roundRect">
            <a:avLst>
              <a:gd name="adj" fmla="val 2667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377440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 FlowDynamicsAgency — pilote 3 mois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0175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0175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30175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4564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564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DH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34564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29400" y="3456432"/>
            <a:ext cx="4251960" cy="0"/>
          </a:xfrm>
          <a:prstGeom prst="line">
            <a:avLst/>
          </a:prstGeom>
          <a:noFill/>
          <a:ln w="9525">
            <a:solidFill>
              <a:srgbClr val="E3E6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3895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8953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DH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9646920" y="38953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DH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29400" y="3895344"/>
            <a:ext cx="4251960" cy="0"/>
          </a:xfrm>
          <a:prstGeom prst="line">
            <a:avLst/>
          </a:prstGeom>
          <a:noFill/>
          <a:ln w="9525">
            <a:solidFill>
              <a:srgbClr val="E3E6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43342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(5%)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43342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5 400 DH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9646920" y="43342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4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13 500 DH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29400" y="4334256"/>
            <a:ext cx="4251960" cy="0"/>
          </a:xfrm>
          <a:prstGeom prst="line">
            <a:avLst/>
          </a:prstGeom>
          <a:noFill/>
          <a:ln w="9525">
            <a:solidFill>
              <a:srgbClr val="E3E6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47731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mensuel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47731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22 900 DH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646920" y="47731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16 000 DH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29400" y="4773168"/>
            <a:ext cx="4251960" cy="0"/>
          </a:xfrm>
          <a:prstGeom prst="line">
            <a:avLst/>
          </a:prstGeom>
          <a:noFill/>
          <a:ln w="9525">
            <a:solidFill>
              <a:srgbClr val="E3E6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29400" y="516636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indicatif sur 3 mois : ≈ 50 900 DH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" y="580644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BEFE5"/>
          </a:solidFill>
          <a:ln w="12700">
            <a:solidFill>
              <a:srgbClr val="C9601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8064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4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 travail — montants ronds, faits pour être ajustés en direct pendant la négociation.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GARDEZ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270 000 DH de courses au mois 3 :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chiffre d'affaires courses reste à l'opérateur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(16 000 DH reversés à FlowDynamicsAgency, tout le reste — y compris ce que vous reversez à vos chauffeurs — vous appartient)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595360" y="182880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phases, un point de bilan explicite.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621506" y="3200400"/>
            <a:ext cx="8948684" cy="0"/>
          </a:xfrm>
          <a:prstGeom prst="line">
            <a:avLst/>
          </a:prstGeom>
          <a:noFill/>
          <a:ln w="25400">
            <a:solidFill>
              <a:srgbClr val="E3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4306" y="2743200"/>
            <a:ext cx="914400" cy="9144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8" name="Image 0" descr="/tmp/claude-0/-home-user-senmarket/ad06b58a-6687-5c78-b7b2-a2bff4010c5b/scratchpad/deck/icon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050" y="29809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56914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8404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251960"/>
            <a:ext cx="1779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Ville, zone, tarifs, 5-10 premiers chauffeurs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01477" y="2743200"/>
            <a:ext cx="914400" cy="9144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3" name="Image 1" descr="/tmp/claude-0/-home-user-senmarket/ad06b58a-6687-5c78-b7b2-a2bff4010c5b/scratchpad/deck/icons/databas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221" y="29809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94085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77251" y="38404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68691" y="4251960"/>
            <a:ext cx="1779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réelle connectée aux apps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38648" y="2743200"/>
            <a:ext cx="914400" cy="9144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8" name="Image 2" descr="/tmp/claude-0/-home-user-senmarket/ad06b58a-6687-5c78-b7b2-a2bff4010c5b/scratchpad/deck/icons/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92" y="29809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31256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114422" y="38404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Lancement fermé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05862" y="4251960"/>
            <a:ext cx="1779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pilote, retours internes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875819" y="2743200"/>
            <a:ext cx="914400" cy="9144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3" name="Image 3" descr="/tmp/claude-0/-home-user-senmarket/ad06b58a-6687-5c78-b7b2-a2bff4010c5b/scratchpad/deck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563" y="298094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68427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351593" y="38404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Lancement public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443033" y="4251960"/>
            <a:ext cx="1779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sur la zone, montée en charge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0112990" y="2743200"/>
            <a:ext cx="914400" cy="914400"/>
          </a:xfrm>
          <a:prstGeom prst="ellipse">
            <a:avLst/>
          </a:prstGeom>
          <a:solidFill>
            <a:srgbClr val="C9601C"/>
          </a:solidFill>
          <a:ln/>
        </p:spPr>
      </p:sp>
      <p:pic>
        <p:nvPicPr>
          <p:cNvPr id="28" name="Image 4" descr="/tmp/claude-0/-home-user-senmarket/ad06b58a-6687-5c78-b7b2-a2bff4010c5b/scratchpad/deck/icons/ey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34" y="2980944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405598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588764" y="38404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680204" y="4251960"/>
            <a:ext cx="1779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Métriques, décision de passage à l'échelle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démarre petit — 5 à 10 chauffeurs — pas 30 dès le premier jour.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DU PREMIER PILOTE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deuxième opérateur ne redémarre pas le projet.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822960" cy="8229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0" descr="/tmp/claude-0/-home-user-senmarket/ad06b58a-6687-5c78-b7b2-a2bff4010c5b/scratchpad/deck/icons/gitbra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8657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697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Onboarder un nouvel opérateur blanc est une opération de configuration — pas un nouveau développement.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3611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zones, tarifs et chauffeurs se déclarent en un seul appel technique — déjà construit et vérifié, pas une promesse pour plus tard.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52360" y="251460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0B122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3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provisionner_operateur()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26680" y="3246120"/>
            <a:ext cx="292608" cy="292608"/>
          </a:xfrm>
          <a:prstGeom prst="ellipse">
            <a:avLst/>
          </a:prstGeom>
          <a:solidFill>
            <a:srgbClr val="1B2A3F"/>
          </a:solidFill>
          <a:ln/>
        </p:spPr>
      </p:sp>
      <p:pic>
        <p:nvPicPr>
          <p:cNvPr id="13" name="Image 1" descr="/tmp/claude-0/-home-user-senmarket/ad06b58a-6687-5c78-b7b2-a2bff4010c5b/scratchpad/deck/icons/check-cop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758" y="3322198"/>
            <a:ext cx="140452" cy="1404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19872" y="3191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ville, couleurs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26680" y="3749040"/>
            <a:ext cx="292608" cy="292608"/>
          </a:xfrm>
          <a:prstGeom prst="ellipse">
            <a:avLst/>
          </a:prstGeom>
          <a:solidFill>
            <a:srgbClr val="1B2A3F"/>
          </a:solidFill>
          <a:ln/>
        </p:spPr>
      </p:sp>
      <p:pic>
        <p:nvPicPr>
          <p:cNvPr id="16" name="Image 2" descr="/tmp/claude-0/-home-user-senmarket/ad06b58a-6687-5c78-b7b2-a2bff4010c5b/scratchpad/deck/icons/check-cop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58" y="3825118"/>
            <a:ext cx="140452" cy="1404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36941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tarifaires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726680" y="4251960"/>
            <a:ext cx="292608" cy="292608"/>
          </a:xfrm>
          <a:prstGeom prst="ellipse">
            <a:avLst/>
          </a:prstGeom>
          <a:solidFill>
            <a:srgbClr val="1B2A3F"/>
          </a:solidFill>
          <a:ln/>
        </p:spPr>
      </p:sp>
      <p:pic>
        <p:nvPicPr>
          <p:cNvPr id="19" name="Image 3" descr="/tmp/claude-0/-home-user-senmarket/ad06b58a-6687-5c78-b7b2-a2bff4010c5b/scratchpad/deck/icons/check-c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758" y="4328038"/>
            <a:ext cx="140452" cy="1404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19872" y="41970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de la flotte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Opérateur prêt à réclamer son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PARTENARIAT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engagements symétriques, pas à sens unique.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834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FlowDynamicsAgency s'engage 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352044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9" name="Image 0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3591763"/>
            <a:ext cx="131674" cy="1316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et configurer la plateforme sous votre marque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406908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2" name="Image 1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" y="4140403"/>
            <a:ext cx="131674" cy="131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995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Assurer maintenance et support pendant le pilote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05840" y="461772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2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4689043"/>
            <a:ext cx="131674" cy="1316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544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votre équipe et vos premiers chauffeurs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005840" y="516636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8" name="Image 3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" y="5237683"/>
            <a:ext cx="131674" cy="13167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5093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un bilan chiffré à l'issue du pilote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0" y="256032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F5F6FA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537960" y="2834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L'opérateur s'engage à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537960" y="352044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3" name="Image 4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283" y="3591763"/>
            <a:ext cx="131674" cy="1316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49440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la liste des chauffeurs pilotes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537960" y="406908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6" name="Image 5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4140403"/>
            <a:ext cx="131674" cy="13167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49440" y="3995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 un référent pour la configuration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537960" y="461772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9" name="Image 6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283" y="4689043"/>
            <a:ext cx="131674" cy="13167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49440" y="4544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sa grille tarifaire de départ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537960" y="5166360"/>
            <a:ext cx="274320" cy="2743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32" name="Image 7" descr="/tmp/claude-0/-home-user-senmarket/ad06b58a-6687-5c78-b7b2-a2bff4010c5b/scratchpad/deck/icons/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9283" y="5237683"/>
            <a:ext cx="131674" cy="13167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949440" y="5093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remonter les retours pendant le lancement fermé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d'intérêt non contraignante — chacun peut se retirer avant le contrat de pilote formel.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OS MAROC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peut commencer aujourd'hui.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10128" cy="2377440"/>
          </a:xfrm>
          <a:prstGeom prst="roundRect">
            <a:avLst>
              <a:gd name="adj" fmla="val 3846"/>
            </a:avLst>
          </a:prstGeom>
          <a:solidFill>
            <a:srgbClr val="141E33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mobility-os-maroc.vercel.app, sur votre téléphone, maintenant.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816" y="2331720"/>
            <a:ext cx="3310128" cy="2377440"/>
          </a:xfrm>
          <a:prstGeom prst="roundRect">
            <a:avLst>
              <a:gd name="adj" fmla="val 3846"/>
            </a:avLst>
          </a:prstGeom>
          <a:solidFill>
            <a:srgbClr val="141E33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32461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365760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L'expression d'intérêt, non contraignante — sur place ou sous 48h.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5552" y="2331720"/>
            <a:ext cx="3310128" cy="2377440"/>
          </a:xfrm>
          <a:prstGeom prst="roundRect">
            <a:avLst>
              <a:gd name="adj" fmla="val 3846"/>
            </a:avLst>
          </a:prstGeom>
          <a:solidFill>
            <a:srgbClr val="141E33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6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32461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365760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cadrage : votre ville, votre marque, vos premiers chauffeurs.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11535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48095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0B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FlowDynamicsAgency  ·  mobility-os-maroc.vercel.app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FlowDynamicsAgency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 OS Maroc — Présentation partenaire</dc:title>
  <dc:subject>PptxGenJS Presentation</dc:subject>
  <dc:creator>FlowDynamicsAgency</dc:creator>
  <cp:lastModifiedBy>FlowDynamicsAgency</cp:lastModifiedBy>
  <cp:revision>1</cp:revision>
  <dcterms:created xsi:type="dcterms:W3CDTF">2026-09-01T21:55:29Z</dcterms:created>
  <dcterms:modified xsi:type="dcterms:W3CDTF">2026-09-01T21:55:29Z</dcterms:modified>
</cp:coreProperties>
</file>