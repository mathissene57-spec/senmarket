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 (DH)</c:v>
                </c:pt>
              </c:strCache>
            </c:strRef>
          </c:tx>
          <c:spPr>
            <a:solidFill>
              <a:srgbClr val="FF7A28"/>
            </a:solidFill>
            <a:effectLst/>
          </c:spPr>
          <c:invertIfNegative val="0"/>
          <c:dLbls>
            <c:numFmt formatCode="#,##0" sourceLinked="0"/>
            <c:txPr>
              <a:bodyPr/>
              <a:lstStyle/>
              <a:p>
                <a:pPr>
                  <a:defRPr b="0" i="0" strike="noStrike" sz="1100" u="none">
                    <a:solidFill>
                      <a:srgbClr val="1A1A1A"/>
                    </a:solidFill>
                    <a:latin typeface="Arial"/>
                  </a:defRPr>
                </a:pPr>
              </a:p>
            </c:txPr>
            <c:showLegendKey val="0"/>
            <c:showVal val="1"/>
            <c:showCatName val="0"/>
            <c:showSerName val="0"/>
            <c:showPercent val="0"/>
            <c:showBubbleSize val="0"/>
            <c:showLeaderLines val="0"/>
          </c:dLbls>
          <c:cat>
            <c:multiLvlStrRef>
              <c:f>Sheet1!$A$2:$A$4</c:f>
              <c:multiLvlStrCache>
                <c:ptCount val="3"/>
                <c:lvl>
                  <c:pt idx="0">
                    <c:v>Mois 1</c:v>
                  </c:pt>
                  <c:pt idx="1">
                    <c:v>Mois 2</c:v>
                  </c:pt>
                  <c:pt idx="2">
                    <c:v>Mois 3</c:v>
                  </c:pt>
                </c:lvl>
              </c:multiLvlStrCache>
            </c:multiLvlStrRef>
          </c:cat>
          <c:val>
            <c:numRef>
              <c:f>Sheet1!$B$2:$B$4</c:f>
              <c:numCache>
                <c:formatCode>General</c:formatCode>
                <c:ptCount val="3"/>
                <c:pt idx="0">
                  <c:v>22900</c:v>
                </c:pt>
                <c:pt idx="1">
                  <c:v>12000</c:v>
                </c:pt>
                <c:pt idx="2">
                  <c:v>16000</c:v>
                </c:pt>
              </c:numCache>
            </c:numRef>
          </c:val>
        </c:ser>
        <c:dLbls>
          <c:numFmt formatCode="#,##0" sourceLinked="0"/>
          <c:txPr>
            <a:bodyPr/>
            <a:lstStyle/>
            <a:p>
              <a:pPr>
                <a:defRPr b="0" i="0" strike="noStrike" sz="1100" u="none">
                  <a:solidFill>
                    <a:srgbClr val="1A1A1A"/>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DDDDD"/>
            </a:solidFill>
            <a:prstDash val="solid"/>
            <a:round/>
          </a:ln>
        </c:spPr>
        <c:txPr>
          <a:bodyPr/>
          <a:lstStyle/>
          <a:p>
            <a:pPr>
              <a:defRPr sz="11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nous recevoir. En une vingtaine de minutes, je vais vous montrer un produit qui existe déjà — pas juste une idée sur slide — et vous expliquer pourquoi on pense que vous êtes le bon premier partenaire pour le lancer.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Aujourd'hui, un opérateur de transport marocain gère ses courses par téléphone, sans app pour ses clients ni ses chauffeurs. Et quand il passe par une plateforme internationale, il ne la contrôle pas et ne touche aucun partage de revenu. Développer sa propre app, seul, est hors de portée.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réponse : une seule plateforme technique, que chaque opérateur utilise sous sa propre marque. Vous ne devenez pas un sous-traitant d'une marque étrangère — vous restez vous-même aux yeux de vos clients et de vos chauffeurs. Et ça n'a rien d'un slide : je vais vous le montrer tout de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que vous voyez là tourne déjà — pas des maquettes graphiques, du code qui clique. C'est le moment de basculer sur les vraies apps ouvertes dans le navigateur (passager.html, chauffeur.html, dashboard.html) et de dérouler le parcours en direct : commander une course, l'accepter côté chauffeur, la terminer, la retrouver dans le dashboard. Cette diapo sert de filet de sécurité si la démo live pose un problème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voici le point le plus important : ce que vous venez de voir peut porter votre marque, vos couleurs, votre logo — en quelques clics depuis votre dashboard, sans qu'on retouche une ligne de code. Si possible, montrer le changement en direct dans l'onglet Marque du dashboard plutôt que juste cette diapo.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voici comment on travaillerait ensemble : un coût de mise en service pour configurer votre marque et former vos équipes, un abonnement mensuel prévisible, et une commission qui nous aligne sur votre succès — on gagne quand vous gagnez.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donner un ordre de grandeur, avec des volumes de démarrage réalistes : sur 3 mois de pilote, voici ce que ça représenterait. J'insiste — ce sont des hypothèses de travail pour cadrer la discussion, pas une facture. On les ajuste ensemble selon ce que vous connaissez du marché.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qui rend ce modèle intéressant à long terme, pas seulement pour ce pilote : une seule plateforme derrière plusieurs marques, un onboarding qui reste une simple configuration, et une isolation stricte — vos chauffeurs et vos courses ne sont jamais mélangés avec ceux d'un autre opérateur, même dans la même ville.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comment on démarrerait concrètement, étape par étape, sans vous demander un engagement disproportionné dès le premier jour : on cadre à petite échelle, on construit, on teste en cercle fermé avant d'ouvrir au public, et on fait un vrai bilan chiffré avant de parler d'aller plus loin.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qu'on vous demande est volontairement limité au démarrage : quelques chauffeurs, un référent, vos tarifs. En échange, vous obtenez une plateforme complète, configurée à votre marque, avec support et bilan chiffré inclus. C'est une expression d'intérêt, pas un contrat définitif — on peut la signer aujourd'hui pour lancer le cadrage.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ça vous parle, voici les trois choses qu'il faudrait faire cette semaine pour démarrer. On peut signer l'expression d'intérêt aujourd'hui si vous êtes partant, ou fixer une date cette semaine pour le faire avec les bonnes personnes de votre côté. Merci pour votre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image" Target="../media/image-10-1.png"/><Relationship Id="rId6" Type="http://schemas.openxmlformats.org/officeDocument/2006/relationships/image" Target="../media/image-10-1.png"/><Relationship Id="rId7" Type="http://schemas.openxmlformats.org/officeDocument/2006/relationships/image" Target="../media/image-10-1.png"/><Relationship Id="rId8" Type="http://schemas.openxmlformats.org/officeDocument/2006/relationships/image" Target="../media/image-10-1.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3D"/>
        </a:solidFill>
      </p:bgPr>
    </p:bg>
    <p:spTree>
      <p:nvGrpSpPr>
        <p:cNvPr id="1" name=""/>
        <p:cNvGrpSpPr/>
        <p:nvPr/>
      </p:nvGrpSpPr>
      <p:grpSpPr>
        <a:xfrm>
          <a:off x="0" y="0"/>
          <a:ext cx="0" cy="0"/>
          <a:chOff x="0" y="0"/>
          <a:chExt cx="0" cy="0"/>
        </a:xfrm>
      </p:grpSpPr>
      <p:sp>
        <p:nvSpPr>
          <p:cNvPr id="2" name="Shape 0"/>
          <p:cNvSpPr/>
          <p:nvPr/>
        </p:nvSpPr>
        <p:spPr>
          <a:xfrm>
            <a:off x="640080" y="548640"/>
            <a:ext cx="640080" cy="640080"/>
          </a:xfrm>
          <a:prstGeom prst="roundRect">
            <a:avLst>
              <a:gd name="adj" fmla="val 21429"/>
            </a:avLst>
          </a:prstGeom>
          <a:solidFill>
            <a:srgbClr val="FF7A28"/>
          </a:solidFill>
          <a:ln/>
        </p:spPr>
      </p:sp>
      <p:sp>
        <p:nvSpPr>
          <p:cNvPr id="3" name="Text 1"/>
          <p:cNvSpPr txBox="1"/>
          <p:nvPr/>
        </p:nvSpPr>
        <p:spPr>
          <a:xfrm>
            <a:off x="640080" y="548640"/>
            <a:ext cx="640080" cy="640080"/>
          </a:xfrm>
          <a:prstGeom prst="rect">
            <a:avLst/>
          </a:prstGeom>
          <a:noFill/>
          <a:ln/>
        </p:spPr>
        <p:txBody>
          <a:bodyPr wrap="square" rtlCol="0" anchor="ctr"/>
          <a:lstStyle/>
          <a:p>
            <a:pPr algn="ctr" indent="0" marL="0">
              <a:buNone/>
            </a:pPr>
            <a:r>
              <a:rPr lang="en-US" sz="2600" b="1" dirty="0">
                <a:solidFill>
                  <a:srgbClr val="101B3D"/>
                </a:solidFill>
                <a:latin typeface="Calibri" pitchFamily="34" charset="0"/>
                <a:ea typeface="Calibri" pitchFamily="34" charset="-122"/>
                <a:cs typeface="Calibri" pitchFamily="34" charset="-120"/>
              </a:rPr>
              <a:t>M</a:t>
            </a:r>
            <a:endParaRPr lang="en-US" sz="2600" dirty="0"/>
          </a:p>
        </p:txBody>
      </p:sp>
      <p:sp>
        <p:nvSpPr>
          <p:cNvPr id="4" name="Text 2"/>
          <p:cNvSpPr txBox="1"/>
          <p:nvPr/>
        </p:nvSpPr>
        <p:spPr>
          <a:xfrm>
            <a:off x="822960" y="2468880"/>
            <a:ext cx="10515600" cy="1097280"/>
          </a:xfrm>
          <a:prstGeom prst="rect">
            <a:avLst/>
          </a:prstGeom>
          <a:noFill/>
          <a:ln/>
        </p:spPr>
        <p:txBody>
          <a:bodyPr wrap="square" rtlCol="0" anchor="ctr"/>
          <a:lstStyle/>
          <a:p>
            <a:pPr algn="l" indent="0" marL="0">
              <a:buNone/>
            </a:pPr>
            <a:r>
              <a:rPr lang="en-US" sz="4600" b="1" dirty="0">
                <a:solidFill>
                  <a:srgbClr val="FFFFFF"/>
                </a:solidFill>
                <a:latin typeface="Cambria" pitchFamily="34" charset="0"/>
                <a:ea typeface="Cambria" pitchFamily="34" charset="-122"/>
                <a:cs typeface="Cambria" pitchFamily="34" charset="-120"/>
              </a:rPr>
              <a:t>MOBILITY OS MAROC</a:t>
            </a:r>
            <a:endParaRPr lang="en-US" sz="4600" dirty="0"/>
          </a:p>
        </p:txBody>
      </p:sp>
      <p:sp>
        <p:nvSpPr>
          <p:cNvPr id="5" name="Text 3"/>
          <p:cNvSpPr txBox="1"/>
          <p:nvPr/>
        </p:nvSpPr>
        <p:spPr>
          <a:xfrm>
            <a:off x="822960" y="3429000"/>
            <a:ext cx="9601200" cy="548640"/>
          </a:xfrm>
          <a:prstGeom prst="rect">
            <a:avLst/>
          </a:prstGeom>
          <a:noFill/>
          <a:ln/>
        </p:spPr>
        <p:txBody>
          <a:bodyPr wrap="square" rtlCol="0" anchor="ctr"/>
          <a:lstStyle/>
          <a:p>
            <a:pPr indent="0" marL="0">
              <a:buNone/>
            </a:pPr>
            <a:r>
              <a:rPr lang="en-US" sz="2000" dirty="0">
                <a:solidFill>
                  <a:srgbClr val="FF7A28"/>
                </a:solidFill>
                <a:latin typeface="Calibri" pitchFamily="34" charset="0"/>
                <a:ea typeface="Calibri" pitchFamily="34" charset="-122"/>
                <a:cs typeface="Calibri" pitchFamily="34" charset="-120"/>
              </a:rPr>
              <a:t>Plateforme de mobilité multi-services en marque blanche</a:t>
            </a:r>
            <a:endParaRPr lang="en-US" sz="2000" dirty="0"/>
          </a:p>
        </p:txBody>
      </p:sp>
      <p:sp>
        <p:nvSpPr>
          <p:cNvPr id="6" name="Text 4"/>
          <p:cNvSpPr txBox="1"/>
          <p:nvPr/>
        </p:nvSpPr>
        <p:spPr>
          <a:xfrm>
            <a:off x="822960" y="5943600"/>
            <a:ext cx="9144000" cy="365760"/>
          </a:xfrm>
          <a:prstGeom prst="rect">
            <a:avLst/>
          </a:prstGeom>
          <a:noFill/>
          <a:ln/>
        </p:spPr>
        <p:txBody>
          <a:bodyPr wrap="square" rtlCol="0" anchor="ctr"/>
          <a:lstStyle/>
          <a:p>
            <a:pPr indent="0" marL="0">
              <a:buNone/>
            </a:pPr>
            <a:r>
              <a:rPr lang="en-US" sz="1300" dirty="0">
                <a:solidFill>
                  <a:srgbClr val="B9C0D6"/>
                </a:solidFill>
                <a:latin typeface="Calibri" pitchFamily="34" charset="0"/>
                <a:ea typeface="Calibri" pitchFamily="34" charset="-122"/>
                <a:cs typeface="Calibri" pitchFamily="34" charset="-120"/>
              </a:rPr>
              <a:t>Présentation partenaire  ·  Casablanca  ·  Septembre 2026</a:t>
            </a:r>
            <a:endParaRPr lang="en-US" sz="1300" dirty="0"/>
          </a:p>
        </p:txBody>
      </p:sp>
      <p:sp>
        <p:nvSpPr>
          <p:cNvPr id="7" name="Text 5"/>
          <p:cNvSpPr txBox="1"/>
          <p:nvPr/>
        </p:nvSpPr>
        <p:spPr>
          <a:xfrm>
            <a:off x="822960" y="6263640"/>
            <a:ext cx="9144000" cy="320040"/>
          </a:xfrm>
          <a:prstGeom prst="rect">
            <a:avLst/>
          </a:prstGeom>
          <a:noFill/>
          <a:ln/>
        </p:spPr>
        <p:txBody>
          <a:bodyPr wrap="square" rtlCol="0" anchor="ctr"/>
          <a:lstStyle/>
          <a:p>
            <a:pPr indent="0" marL="0">
              <a:buNone/>
            </a:pPr>
            <a:r>
              <a:rPr lang="en-US" sz="1100" dirty="0">
                <a:solidFill>
                  <a:srgbClr val="8892B0"/>
                </a:solidFill>
                <a:latin typeface="Calibri" pitchFamily="34" charset="0"/>
                <a:ea typeface="Calibri" pitchFamily="34" charset="-122"/>
                <a:cs typeface="Calibri" pitchFamily="34" charset="-120"/>
              </a:rPr>
              <a:t>Un projet FlowDynamicsAgency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640080"/>
          </a:xfrm>
          <a:prstGeom prst="rect">
            <a:avLst/>
          </a:prstGeom>
          <a:noFill/>
          <a:ln/>
        </p:spPr>
        <p:txBody>
          <a:bodyPr wrap="square" rtlCol="0" anchor="ctr"/>
          <a:lstStyle/>
          <a:p>
            <a:pPr indent="0" marL="0">
              <a:buNone/>
            </a:pPr>
            <a:r>
              <a:rPr lang="en-US" sz="3200" b="1" dirty="0">
                <a:solidFill>
                  <a:srgbClr val="101B3D"/>
                </a:solidFill>
                <a:latin typeface="Cambria" pitchFamily="34" charset="0"/>
                <a:ea typeface="Cambria" pitchFamily="34" charset="-122"/>
                <a:cs typeface="Cambria" pitchFamily="34" charset="-120"/>
              </a:rPr>
              <a:t>Le problème</a:t>
            </a:r>
            <a:endParaRPr lang="en-US" sz="3200" dirty="0"/>
          </a:p>
        </p:txBody>
      </p:sp>
      <p:sp>
        <p:nvSpPr>
          <p:cNvPr id="3" name="Text 1"/>
          <p:cNvSpPr txBox="1"/>
          <p:nvPr/>
        </p:nvSpPr>
        <p:spPr>
          <a:xfrm>
            <a:off x="640080" y="1051560"/>
            <a:ext cx="10789920" cy="54864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Les opérateurs de transport marocains n'ont pas d'outil digital à la hauteur des standards du marché.</a:t>
            </a:r>
            <a:endParaRPr lang="en-US" sz="1500" dirty="0"/>
          </a:p>
        </p:txBody>
      </p:sp>
      <p:sp>
        <p:nvSpPr>
          <p:cNvPr id="4" name="Shape 2"/>
          <p:cNvSpPr/>
          <p:nvPr/>
        </p:nvSpPr>
        <p:spPr>
          <a:xfrm>
            <a:off x="640080" y="1965960"/>
            <a:ext cx="777240" cy="777240"/>
          </a:xfrm>
          <a:prstGeom prst="ellipse">
            <a:avLst/>
          </a:prstGeom>
          <a:solidFill>
            <a:srgbClr val="101B3D"/>
          </a:solidFill>
          <a:ln/>
        </p:spPr>
      </p:sp>
      <p:pic>
        <p:nvPicPr>
          <p:cNvPr id="5" name="Image 0" descr="/tmp/claude-0/-home-user-senmarket/ad06b58a-6687-5c78-b7b2-a2bff4010c5b/scratchpad/icons/problem_mobile.png">    </p:cNvPr>
          <p:cNvPicPr>
            <a:picLocks noChangeAspect="1"/>
          </p:cNvPicPr>
          <p:nvPr/>
        </p:nvPicPr>
        <p:blipFill>
          <a:blip r:embed="rId1"/>
          <a:stretch>
            <a:fillRect/>
          </a:stretch>
        </p:blipFill>
        <p:spPr>
          <a:xfrm>
            <a:off x="842162" y="2168042"/>
            <a:ext cx="373075" cy="373075"/>
          </a:xfrm>
          <a:prstGeom prst="rect">
            <a:avLst/>
          </a:prstGeom>
        </p:spPr>
      </p:pic>
      <p:sp>
        <p:nvSpPr>
          <p:cNvPr id="6" name="Text 3"/>
          <p:cNvSpPr txBox="1"/>
          <p:nvPr/>
        </p:nvSpPr>
        <p:spPr>
          <a:xfrm>
            <a:off x="1691640" y="1947672"/>
            <a:ext cx="9144000" cy="365760"/>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Pas d'application propre</a:t>
            </a:r>
            <a:endParaRPr lang="en-US" sz="1700" dirty="0"/>
          </a:p>
        </p:txBody>
      </p:sp>
      <p:sp>
        <p:nvSpPr>
          <p:cNvPr id="7" name="Text 4"/>
          <p:cNvSpPr txBox="1"/>
          <p:nvPr/>
        </p:nvSpPr>
        <p:spPr>
          <a:xfrm>
            <a:off x="1691640" y="2313432"/>
            <a:ext cx="9326880" cy="59436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Chaque opérateur gère ses courses par téléphone ou par talkie-walkie, sans app pour ses clients ni ses chauffeurs.</a:t>
            </a:r>
            <a:endParaRPr lang="en-US" sz="1300" dirty="0"/>
          </a:p>
        </p:txBody>
      </p:sp>
      <p:sp>
        <p:nvSpPr>
          <p:cNvPr id="8" name="Shape 5"/>
          <p:cNvSpPr/>
          <p:nvPr/>
        </p:nvSpPr>
        <p:spPr>
          <a:xfrm>
            <a:off x="640080" y="3383280"/>
            <a:ext cx="777240" cy="777240"/>
          </a:xfrm>
          <a:prstGeom prst="ellipse">
            <a:avLst/>
          </a:prstGeom>
          <a:solidFill>
            <a:srgbClr val="101B3D"/>
          </a:solidFill>
          <a:ln/>
        </p:spPr>
      </p:sp>
      <p:pic>
        <p:nvPicPr>
          <p:cNvPr id="9" name="Image 1" descr="/tmp/claude-0/-home-user-senmarket/ad06b58a-6687-5c78-b7b2-a2bff4010c5b/scratchpad/icons/problem_coins.png">    </p:cNvPr>
          <p:cNvPicPr>
            <a:picLocks noChangeAspect="1"/>
          </p:cNvPicPr>
          <p:nvPr/>
        </p:nvPicPr>
        <p:blipFill>
          <a:blip r:embed="rId2"/>
          <a:stretch>
            <a:fillRect/>
          </a:stretch>
        </p:blipFill>
        <p:spPr>
          <a:xfrm>
            <a:off x="842162" y="3585362"/>
            <a:ext cx="373075" cy="373075"/>
          </a:xfrm>
          <a:prstGeom prst="rect">
            <a:avLst/>
          </a:prstGeom>
        </p:spPr>
      </p:pic>
      <p:sp>
        <p:nvSpPr>
          <p:cNvPr id="10" name="Text 6"/>
          <p:cNvSpPr txBox="1"/>
          <p:nvPr/>
        </p:nvSpPr>
        <p:spPr>
          <a:xfrm>
            <a:off x="1691640" y="3364992"/>
            <a:ext cx="9144000" cy="365760"/>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Aucun partage de valeur</a:t>
            </a:r>
            <a:endParaRPr lang="en-US" sz="1700" dirty="0"/>
          </a:p>
        </p:txBody>
      </p:sp>
      <p:sp>
        <p:nvSpPr>
          <p:cNvPr id="11" name="Text 7"/>
          <p:cNvSpPr txBox="1"/>
          <p:nvPr/>
        </p:nvSpPr>
        <p:spPr>
          <a:xfrm>
            <a:off x="1691640" y="3730752"/>
            <a:ext cx="9326880" cy="59436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Les plateformes internationales existantes ne sont pas configurables par un opérateur local et ne partagent pas de revenu de licence avec lui.</a:t>
            </a:r>
            <a:endParaRPr lang="en-US" sz="1300" dirty="0"/>
          </a:p>
        </p:txBody>
      </p:sp>
      <p:sp>
        <p:nvSpPr>
          <p:cNvPr id="12" name="Shape 8"/>
          <p:cNvSpPr/>
          <p:nvPr/>
        </p:nvSpPr>
        <p:spPr>
          <a:xfrm>
            <a:off x="640080" y="4800600"/>
            <a:ext cx="777240" cy="777240"/>
          </a:xfrm>
          <a:prstGeom prst="ellipse">
            <a:avLst/>
          </a:prstGeom>
          <a:solidFill>
            <a:srgbClr val="101B3D"/>
          </a:solidFill>
          <a:ln/>
        </p:spPr>
      </p:sp>
      <p:pic>
        <p:nvPicPr>
          <p:cNvPr id="13" name="Image 2" descr="/tmp/claude-0/-home-user-senmarket/ad06b58a-6687-5c78-b7b2-a2bff4010c5b/scratchpad/icons/problem_team.png">    </p:cNvPr>
          <p:cNvPicPr>
            <a:picLocks noChangeAspect="1"/>
          </p:cNvPicPr>
          <p:nvPr/>
        </p:nvPicPr>
        <p:blipFill>
          <a:blip r:embed="rId3"/>
          <a:stretch>
            <a:fillRect/>
          </a:stretch>
        </p:blipFill>
        <p:spPr>
          <a:xfrm>
            <a:off x="842162" y="5002682"/>
            <a:ext cx="373075" cy="373075"/>
          </a:xfrm>
          <a:prstGeom prst="rect">
            <a:avLst/>
          </a:prstGeom>
        </p:spPr>
      </p:pic>
      <p:sp>
        <p:nvSpPr>
          <p:cNvPr id="14" name="Text 9"/>
          <p:cNvSpPr txBox="1"/>
          <p:nvPr/>
        </p:nvSpPr>
        <p:spPr>
          <a:xfrm>
            <a:off x="1691640" y="4782312"/>
            <a:ext cx="9144000" cy="365760"/>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Pas d'équipe technique</a:t>
            </a:r>
            <a:endParaRPr lang="en-US" sz="1700" dirty="0"/>
          </a:p>
        </p:txBody>
      </p:sp>
      <p:sp>
        <p:nvSpPr>
          <p:cNvPr id="15" name="Text 10"/>
          <p:cNvSpPr txBox="1"/>
          <p:nvPr/>
        </p:nvSpPr>
        <p:spPr>
          <a:xfrm>
            <a:off x="1691640" y="5148072"/>
            <a:ext cx="9326880" cy="59436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Développer et maintenir une app comparable aux standards du marché est hors de portée d'un opérateur régional seul.</a:t>
            </a:r>
            <a:endParaRPr lang="en-US" sz="1300" dirty="0"/>
          </a:p>
        </p:txBody>
      </p:sp>
      <p:sp>
        <p:nvSpPr>
          <p:cNvPr id="16" name="Text 11"/>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Mobility OS Maroc</a:t>
            </a:r>
            <a:endParaRPr lang="en-US" sz="900" dirty="0"/>
          </a:p>
        </p:txBody>
      </p:sp>
      <p:sp>
        <p:nvSpPr>
          <p:cNvPr id="17" name="Text 12"/>
          <p:cNvSpPr/>
          <p:nvPr/>
        </p:nvSpPr>
        <p:spPr>
          <a:xfrm>
            <a:off x="8074152" y="6446520"/>
            <a:ext cx="36576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01 — Le problème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640080"/>
          </a:xfrm>
          <a:prstGeom prst="rect">
            <a:avLst/>
          </a:prstGeom>
          <a:noFill/>
          <a:ln/>
        </p:spPr>
        <p:txBody>
          <a:bodyPr wrap="square" rtlCol="0" anchor="ctr"/>
          <a:lstStyle/>
          <a:p>
            <a:pPr indent="0" marL="0">
              <a:buNone/>
            </a:pPr>
            <a:r>
              <a:rPr lang="en-US" sz="3200" b="1" dirty="0">
                <a:solidFill>
                  <a:srgbClr val="101B3D"/>
                </a:solidFill>
                <a:latin typeface="Cambria" pitchFamily="34" charset="0"/>
                <a:ea typeface="Cambria" pitchFamily="34" charset="-122"/>
                <a:cs typeface="Cambria" pitchFamily="34" charset="-120"/>
              </a:rPr>
              <a:t>Le concept</a:t>
            </a:r>
            <a:endParaRPr lang="en-US" sz="3200" dirty="0"/>
          </a:p>
        </p:txBody>
      </p:sp>
      <p:sp>
        <p:nvSpPr>
          <p:cNvPr id="3" name="Text 1"/>
          <p:cNvSpPr txBox="1"/>
          <p:nvPr/>
        </p:nvSpPr>
        <p:spPr>
          <a:xfrm>
            <a:off x="640080" y="1371600"/>
            <a:ext cx="5212080" cy="3931920"/>
          </a:xfrm>
          <a:prstGeom prst="rect">
            <a:avLst/>
          </a:prstGeom>
          <a:noFill/>
          <a:ln/>
        </p:spPr>
        <p:txBody>
          <a:bodyPr wrap="square" rtlCol="0" anchor="t"/>
          <a:lstStyle/>
          <a:p>
            <a:pPr indent="0" marL="0">
              <a:buNone/>
            </a:pPr>
            <a:r>
              <a:rPr lang="en-US" sz="1800" b="1" dirty="0">
                <a:solidFill>
                  <a:srgbClr val="1A1A1A"/>
                </a:solidFill>
                <a:latin typeface="Calibri" pitchFamily="34" charset="0"/>
                <a:ea typeface="Calibri" pitchFamily="34" charset="-122"/>
                <a:cs typeface="Calibri" pitchFamily="34" charset="-120"/>
              </a:rPr>
              <a:t>Une seule plateforme technique.
</a:t>
            </a:r>
            <a:endParaRPr lang="en-US" sz="1800" dirty="0"/>
          </a:p>
          <a:p>
            <a:pPr indent="0" marL="0">
              <a:buNone/>
            </a:pPr>
            <a:r>
              <a:rPr lang="en-US" sz="1800" b="1" dirty="0">
                <a:solidFill>
                  <a:srgbClr val="FF7A28"/>
                </a:solidFill>
                <a:latin typeface="Calibri" pitchFamily="34" charset="0"/>
                <a:ea typeface="Calibri" pitchFamily="34" charset="-122"/>
                <a:cs typeface="Calibri" pitchFamily="34" charset="-120"/>
              </a:rPr>
              <a:t>Autant de marques que d'opérateurs.
</a:t>
            </a:r>
            <a:endParaRPr lang="en-US" sz="1800" dirty="0"/>
          </a:p>
          <a:p>
            <a:pPr indent="0" marL="0">
              <a:buNone/>
            </a:pPr>
            <a:r>
              <a:rPr lang="en-US" sz="1400" dirty="0">
                <a:solidFill>
                  <a:srgbClr val="6B7280"/>
                </a:solidFill>
                <a:latin typeface="Calibri" pitchFamily="34" charset="0"/>
                <a:ea typeface="Calibri" pitchFamily="34" charset="-122"/>
                <a:cs typeface="Calibri" pitchFamily="34" charset="-120"/>
              </a:rPr>
              <a:t>FlowDynamicsAgency construit et maintient la technologie — apps Passager, Chauffeur, dashboard de gestion. Chaque opérateur de transport la déploie sous sa propre marque, auprès de ses propres chauffeurs et clients.</a:t>
            </a:r>
            <a:endParaRPr lang="en-US" sz="1800" dirty="0"/>
          </a:p>
        </p:txBody>
      </p:sp>
      <p:sp>
        <p:nvSpPr>
          <p:cNvPr id="4" name="Shape 2"/>
          <p:cNvSpPr/>
          <p:nvPr/>
        </p:nvSpPr>
        <p:spPr>
          <a:xfrm>
            <a:off x="6492240" y="1463040"/>
            <a:ext cx="4937760" cy="914400"/>
          </a:xfrm>
          <a:prstGeom prst="roundRect">
            <a:avLst>
              <a:gd name="adj" fmla="val 10000"/>
            </a:avLst>
          </a:prstGeom>
          <a:solidFill>
            <a:srgbClr val="101B3D"/>
          </a:solidFill>
          <a:ln/>
        </p:spPr>
      </p:sp>
      <p:sp>
        <p:nvSpPr>
          <p:cNvPr id="5" name="Text 3"/>
          <p:cNvSpPr txBox="1"/>
          <p:nvPr/>
        </p:nvSpPr>
        <p:spPr>
          <a:xfrm>
            <a:off x="6492240" y="1463040"/>
            <a:ext cx="4937760" cy="9144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Plateforme Mobility OS</a:t>
            </a:r>
            <a:endParaRPr lang="en-US" sz="1600" dirty="0"/>
          </a:p>
        </p:txBody>
      </p:sp>
      <p:sp>
        <p:nvSpPr>
          <p:cNvPr id="6" name="Shape 4"/>
          <p:cNvSpPr/>
          <p:nvPr/>
        </p:nvSpPr>
        <p:spPr>
          <a:xfrm>
            <a:off x="6492240" y="3017520"/>
            <a:ext cx="1600200" cy="960120"/>
          </a:xfrm>
          <a:prstGeom prst="roundRect">
            <a:avLst>
              <a:gd name="adj" fmla="val 7619"/>
            </a:avLst>
          </a:prstGeom>
          <a:solidFill>
            <a:srgbClr val="0E6B5C"/>
          </a:solidFill>
          <a:ln/>
        </p:spPr>
      </p:sp>
      <p:sp>
        <p:nvSpPr>
          <p:cNvPr id="7" name="Text 5"/>
          <p:cNvSpPr txBox="1"/>
          <p:nvPr/>
        </p:nvSpPr>
        <p:spPr>
          <a:xfrm>
            <a:off x="6492240" y="3017520"/>
            <a:ext cx="160020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Opérateur pilote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(partenaire)</a:t>
            </a:r>
            <a:endParaRPr lang="en-US" sz="1100" dirty="0"/>
          </a:p>
        </p:txBody>
      </p:sp>
      <p:sp>
        <p:nvSpPr>
          <p:cNvPr id="8" name="Shape 6"/>
          <p:cNvSpPr/>
          <p:nvPr/>
        </p:nvSpPr>
        <p:spPr>
          <a:xfrm>
            <a:off x="7292340" y="2377440"/>
            <a:ext cx="0" cy="640080"/>
          </a:xfrm>
          <a:prstGeom prst="line">
            <a:avLst/>
          </a:prstGeom>
          <a:noFill/>
          <a:ln w="19050">
            <a:solidFill>
              <a:srgbClr val="C7CCDA"/>
            </a:solidFill>
            <a:prstDash val="solid"/>
          </a:ln>
        </p:spPr>
      </p:sp>
      <p:sp>
        <p:nvSpPr>
          <p:cNvPr id="9" name="Shape 7"/>
          <p:cNvSpPr/>
          <p:nvPr/>
        </p:nvSpPr>
        <p:spPr>
          <a:xfrm>
            <a:off x="8275320" y="3017520"/>
            <a:ext cx="1600200" cy="960120"/>
          </a:xfrm>
          <a:prstGeom prst="roundRect">
            <a:avLst>
              <a:gd name="adj" fmla="val 7619"/>
            </a:avLst>
          </a:prstGeom>
          <a:solidFill>
            <a:srgbClr val="B7BDC9"/>
          </a:solidFill>
          <a:ln/>
        </p:spPr>
      </p:sp>
      <p:sp>
        <p:nvSpPr>
          <p:cNvPr id="10" name="Text 8"/>
          <p:cNvSpPr txBox="1"/>
          <p:nvPr/>
        </p:nvSpPr>
        <p:spPr>
          <a:xfrm>
            <a:off x="8275320" y="3017520"/>
            <a:ext cx="160020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Opérateur B</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(à venir)</a:t>
            </a:r>
            <a:endParaRPr lang="en-US" sz="1100" dirty="0"/>
          </a:p>
        </p:txBody>
      </p:sp>
      <p:sp>
        <p:nvSpPr>
          <p:cNvPr id="11" name="Shape 9"/>
          <p:cNvSpPr/>
          <p:nvPr/>
        </p:nvSpPr>
        <p:spPr>
          <a:xfrm>
            <a:off x="9075420" y="2377440"/>
            <a:ext cx="0" cy="640080"/>
          </a:xfrm>
          <a:prstGeom prst="line">
            <a:avLst/>
          </a:prstGeom>
          <a:noFill/>
          <a:ln w="19050">
            <a:solidFill>
              <a:srgbClr val="C7CCDA"/>
            </a:solidFill>
            <a:prstDash val="solid"/>
          </a:ln>
        </p:spPr>
      </p:sp>
      <p:sp>
        <p:nvSpPr>
          <p:cNvPr id="12" name="Shape 10"/>
          <p:cNvSpPr/>
          <p:nvPr/>
        </p:nvSpPr>
        <p:spPr>
          <a:xfrm>
            <a:off x="10058400" y="3017520"/>
            <a:ext cx="1600200" cy="960120"/>
          </a:xfrm>
          <a:prstGeom prst="roundRect">
            <a:avLst>
              <a:gd name="adj" fmla="val 7619"/>
            </a:avLst>
          </a:prstGeom>
          <a:solidFill>
            <a:srgbClr val="B7BDC9"/>
          </a:solidFill>
          <a:ln/>
        </p:spPr>
      </p:sp>
      <p:sp>
        <p:nvSpPr>
          <p:cNvPr id="13" name="Text 11"/>
          <p:cNvSpPr txBox="1"/>
          <p:nvPr/>
        </p:nvSpPr>
        <p:spPr>
          <a:xfrm>
            <a:off x="10058400" y="3017520"/>
            <a:ext cx="1600200" cy="9601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Opérateur C</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(à venir)</a:t>
            </a:r>
            <a:endParaRPr lang="en-US" sz="1100" dirty="0"/>
          </a:p>
        </p:txBody>
      </p:sp>
      <p:sp>
        <p:nvSpPr>
          <p:cNvPr id="14" name="Shape 12"/>
          <p:cNvSpPr/>
          <p:nvPr/>
        </p:nvSpPr>
        <p:spPr>
          <a:xfrm>
            <a:off x="10858500" y="2377440"/>
            <a:ext cx="0" cy="640080"/>
          </a:xfrm>
          <a:prstGeom prst="line">
            <a:avLst/>
          </a:prstGeom>
          <a:noFill/>
          <a:ln w="19050">
            <a:solidFill>
              <a:srgbClr val="C7CCDA"/>
            </a:solidFill>
            <a:prstDash val="solid"/>
          </a:ln>
        </p:spPr>
      </p:sp>
      <p:sp>
        <p:nvSpPr>
          <p:cNvPr id="15" name="Text 13"/>
          <p:cNvSpPr txBox="1"/>
          <p:nvPr/>
        </p:nvSpPr>
        <p:spPr>
          <a:xfrm>
            <a:off x="6492240" y="4297680"/>
            <a:ext cx="4937760" cy="1005840"/>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Onboarder un nouvel opérateur = une opération de configuration, pas un nouveau développement.</a:t>
            </a:r>
            <a:endParaRPr lang="en-US" sz="1250" dirty="0"/>
          </a:p>
        </p:txBody>
      </p:sp>
      <p:sp>
        <p:nvSpPr>
          <p:cNvPr id="16" name="Text 14"/>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Mobility OS Maroc</a:t>
            </a:r>
            <a:endParaRPr lang="en-US" sz="900" dirty="0"/>
          </a:p>
        </p:txBody>
      </p:sp>
      <p:sp>
        <p:nvSpPr>
          <p:cNvPr id="17" name="Text 15"/>
          <p:cNvSpPr/>
          <p:nvPr/>
        </p:nvSpPr>
        <p:spPr>
          <a:xfrm>
            <a:off x="8074152" y="6446520"/>
            <a:ext cx="36576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02 — Le concept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640080"/>
          </a:xfrm>
          <a:prstGeom prst="rect">
            <a:avLst/>
          </a:prstGeom>
          <a:noFill/>
          <a:ln/>
        </p:spPr>
        <p:txBody>
          <a:bodyPr wrap="square" rtlCol="0" anchor="ctr"/>
          <a:lstStyle/>
          <a:p>
            <a:pPr indent="0" marL="0">
              <a:buNone/>
            </a:pPr>
            <a:r>
              <a:rPr lang="en-US" sz="3200" b="1" dirty="0">
                <a:solidFill>
                  <a:srgbClr val="101B3D"/>
                </a:solidFill>
                <a:latin typeface="Cambria" pitchFamily="34" charset="0"/>
                <a:ea typeface="Cambria" pitchFamily="34" charset="-122"/>
                <a:cs typeface="Cambria" pitchFamily="34" charset="-120"/>
              </a:rPr>
              <a:t>Un produit qui existe déjà</a:t>
            </a:r>
            <a:endParaRPr lang="en-US" sz="3200" dirty="0"/>
          </a:p>
        </p:txBody>
      </p:sp>
      <p:sp>
        <p:nvSpPr>
          <p:cNvPr id="3" name="Text 1"/>
          <p:cNvSpPr txBox="1"/>
          <p:nvPr/>
        </p:nvSpPr>
        <p:spPr>
          <a:xfrm>
            <a:off x="640080" y="1051560"/>
            <a:ext cx="10789920" cy="365760"/>
          </a:xfrm>
          <a:prstGeom prst="rect">
            <a:avLst/>
          </a:prstGeom>
          <a:noFill/>
          <a:ln/>
        </p:spPr>
        <p:txBody>
          <a:bodyPr wrap="square" rtlCol="0" anchor="ctr"/>
          <a:lstStyle/>
          <a:p>
            <a:pPr indent="0" marL="0">
              <a:buNone/>
            </a:pPr>
            <a:r>
              <a:rPr lang="en-US" sz="1400" dirty="0">
                <a:solidFill>
                  <a:srgbClr val="6B7280"/>
                </a:solidFill>
                <a:latin typeface="Calibri" pitchFamily="34" charset="0"/>
                <a:ea typeface="Calibri" pitchFamily="34" charset="-122"/>
                <a:cs typeface="Calibri" pitchFamily="34" charset="-120"/>
              </a:rPr>
              <a:t>Ce n'est pas une idée sur slide : les trois expériences ci-dessous sont cliquables aujourd'hui.</a:t>
            </a:r>
            <a:endParaRPr lang="en-US" sz="1400" dirty="0"/>
          </a:p>
        </p:txBody>
      </p:sp>
      <p:pic>
        <p:nvPicPr>
          <p:cNvPr id="4" name="Image 0" descr="/tmp/deck/passager_confirmation_platform.png">    </p:cNvPr>
          <p:cNvPicPr>
            <a:picLocks noChangeAspect="1"/>
          </p:cNvPicPr>
          <p:nvPr/>
        </p:nvPicPr>
        <p:blipFill>
          <a:blip r:embed="rId1"/>
          <a:stretch>
            <a:fillRect/>
          </a:stretch>
        </p:blipFill>
        <p:spPr>
          <a:xfrm>
            <a:off x="914400" y="1691640"/>
            <a:ext cx="1874520" cy="3888632"/>
          </a:xfrm>
          <a:prstGeom prst="rect">
            <a:avLst/>
          </a:prstGeom>
        </p:spPr>
      </p:pic>
      <p:sp>
        <p:nvSpPr>
          <p:cNvPr id="5" name="Text 2"/>
          <p:cNvSpPr txBox="1"/>
          <p:nvPr/>
        </p:nvSpPr>
        <p:spPr>
          <a:xfrm>
            <a:off x="777240" y="5690000"/>
            <a:ext cx="2148840" cy="502920"/>
          </a:xfrm>
          <a:prstGeom prst="rect">
            <a:avLst/>
          </a:prstGeom>
          <a:noFill/>
          <a:ln/>
        </p:spPr>
        <p:txBody>
          <a:bodyPr wrap="square"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App Passager</a:t>
            </a:r>
            <a:endParaRPr lang="en-US" sz="1150" dirty="0"/>
          </a:p>
          <a:p>
            <a:pPr algn="ctr" indent="0" marL="0">
              <a:buNone/>
            </a:pPr>
            <a:r>
              <a:rPr lang="en-US" sz="1150" b="1" dirty="0">
                <a:solidFill>
                  <a:srgbClr val="1A1A1A"/>
                </a:solidFill>
                <a:latin typeface="Calibri" pitchFamily="34" charset="0"/>
                <a:ea typeface="Calibri" pitchFamily="34" charset="-122"/>
                <a:cs typeface="Calibri" pitchFamily="34" charset="-120"/>
              </a:rPr>
              <a:t>confirmer une course</a:t>
            </a:r>
            <a:endParaRPr lang="en-US" sz="1150" dirty="0"/>
          </a:p>
        </p:txBody>
      </p:sp>
      <p:pic>
        <p:nvPicPr>
          <p:cNvPr id="6" name="Image 1" descr="/tmp/deck/chauffeur_demande.png">    </p:cNvPr>
          <p:cNvPicPr>
            <a:picLocks noChangeAspect="1"/>
          </p:cNvPicPr>
          <p:nvPr/>
        </p:nvPicPr>
        <p:blipFill>
          <a:blip r:embed="rId2"/>
          <a:stretch>
            <a:fillRect/>
          </a:stretch>
        </p:blipFill>
        <p:spPr>
          <a:xfrm>
            <a:off x="3246120" y="1691640"/>
            <a:ext cx="1874520" cy="3888632"/>
          </a:xfrm>
          <a:prstGeom prst="rect">
            <a:avLst/>
          </a:prstGeom>
        </p:spPr>
      </p:pic>
      <p:sp>
        <p:nvSpPr>
          <p:cNvPr id="7" name="Text 3"/>
          <p:cNvSpPr txBox="1"/>
          <p:nvPr/>
        </p:nvSpPr>
        <p:spPr>
          <a:xfrm>
            <a:off x="3108960" y="5690000"/>
            <a:ext cx="2148840" cy="502920"/>
          </a:xfrm>
          <a:prstGeom prst="rect">
            <a:avLst/>
          </a:prstGeom>
          <a:noFill/>
          <a:ln/>
        </p:spPr>
        <p:txBody>
          <a:bodyPr wrap="square"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App Chauffeur</a:t>
            </a:r>
            <a:endParaRPr lang="en-US" sz="1150" dirty="0"/>
          </a:p>
          <a:p>
            <a:pPr algn="ctr" indent="0" marL="0">
              <a:buNone/>
            </a:pPr>
            <a:r>
              <a:rPr lang="en-US" sz="1150" b="1" dirty="0">
                <a:solidFill>
                  <a:srgbClr val="1A1A1A"/>
                </a:solidFill>
                <a:latin typeface="Calibri" pitchFamily="34" charset="0"/>
                <a:ea typeface="Calibri" pitchFamily="34" charset="-122"/>
                <a:cs typeface="Calibri" pitchFamily="34" charset="-120"/>
              </a:rPr>
              <a:t>accepter une course</a:t>
            </a:r>
            <a:endParaRPr lang="en-US" sz="1150" dirty="0"/>
          </a:p>
        </p:txBody>
      </p:sp>
      <p:pic>
        <p:nvPicPr>
          <p:cNvPr id="8" name="Image 2" descr="/tmp/deck/dashboard_apercu.png">    </p:cNvPr>
          <p:cNvPicPr>
            <a:picLocks noChangeAspect="1"/>
          </p:cNvPicPr>
          <p:nvPr/>
        </p:nvPicPr>
        <p:blipFill>
          <a:blip r:embed="rId3"/>
          <a:stretch>
            <a:fillRect/>
          </a:stretch>
        </p:blipFill>
        <p:spPr>
          <a:xfrm>
            <a:off x="5852160" y="1691640"/>
            <a:ext cx="5669280" cy="3986213"/>
          </a:xfrm>
          <a:prstGeom prst="rect">
            <a:avLst/>
          </a:prstGeom>
        </p:spPr>
      </p:pic>
      <p:sp>
        <p:nvSpPr>
          <p:cNvPr id="9" name="Shape 4"/>
          <p:cNvSpPr/>
          <p:nvPr/>
        </p:nvSpPr>
        <p:spPr>
          <a:xfrm>
            <a:off x="5852160" y="1691640"/>
            <a:ext cx="5669280" cy="3986213"/>
          </a:xfrm>
          <a:prstGeom prst="rect">
            <a:avLst/>
          </a:prstGeom>
          <a:ln w="12700">
            <a:solidFill>
              <a:srgbClr val="E2E2E2"/>
            </a:solidFill>
            <a:prstDash val="solid"/>
          </a:ln>
        </p:spPr>
      </p:sp>
      <p:sp>
        <p:nvSpPr>
          <p:cNvPr id="10" name="Text 5"/>
          <p:cNvSpPr txBox="1"/>
          <p:nvPr/>
        </p:nvSpPr>
        <p:spPr>
          <a:xfrm>
            <a:off x="5852160" y="5805868"/>
            <a:ext cx="5669280" cy="365760"/>
          </a:xfrm>
          <a:prstGeom prst="rect">
            <a:avLst/>
          </a:prstGeom>
          <a:noFill/>
          <a:ln/>
        </p:spPr>
        <p:txBody>
          <a:bodyPr wrap="square" rtlCol="0" anchor="ctr"/>
          <a:lstStyle/>
          <a:p>
            <a:pPr algn="ctr" indent="0" marL="0">
              <a:buNone/>
            </a:pPr>
            <a:r>
              <a:rPr lang="en-US" sz="1150" b="1" dirty="0">
                <a:solidFill>
                  <a:srgbClr val="1A1A1A"/>
                </a:solidFill>
                <a:latin typeface="Calibri" pitchFamily="34" charset="0"/>
                <a:ea typeface="Calibri" pitchFamily="34" charset="-122"/>
                <a:cs typeface="Calibri" pitchFamily="34" charset="-120"/>
              </a:rPr>
              <a:t>Dashboard Opérateur — vue d'ensemble</a:t>
            </a:r>
            <a:endParaRPr lang="en-US" sz="1150" dirty="0"/>
          </a:p>
        </p:txBody>
      </p:sp>
      <p:sp>
        <p:nvSpPr>
          <p:cNvPr id="11" name="Text 6"/>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Mobility OS Maroc</a:t>
            </a:r>
            <a:endParaRPr lang="en-US" sz="900" dirty="0"/>
          </a:p>
        </p:txBody>
      </p:sp>
      <p:sp>
        <p:nvSpPr>
          <p:cNvPr id="12" name="Text 7"/>
          <p:cNvSpPr/>
          <p:nvPr/>
        </p:nvSpPr>
        <p:spPr>
          <a:xfrm>
            <a:off x="8074152" y="6446520"/>
            <a:ext cx="36576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03 — Démonstration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515600" cy="640080"/>
          </a:xfrm>
          <a:prstGeom prst="rect">
            <a:avLst/>
          </a:prstGeom>
          <a:noFill/>
          <a:ln/>
        </p:spPr>
        <p:txBody>
          <a:bodyPr wrap="square" rtlCol="0" anchor="ctr"/>
          <a:lstStyle/>
          <a:p>
            <a:pPr indent="0" marL="0">
              <a:buNone/>
            </a:pPr>
            <a:r>
              <a:rPr lang="en-US" sz="3000" b="1" dirty="0">
                <a:solidFill>
                  <a:srgbClr val="101B3D"/>
                </a:solidFill>
                <a:latin typeface="Cambria" pitchFamily="34" charset="0"/>
                <a:ea typeface="Cambria" pitchFamily="34" charset="-122"/>
                <a:cs typeface="Cambria" pitchFamily="34" charset="-120"/>
              </a:rPr>
              <a:t>Même produit. Marques différentes.</a:t>
            </a:r>
            <a:endParaRPr lang="en-US" sz="3000" dirty="0"/>
          </a:p>
        </p:txBody>
      </p:sp>
      <p:sp>
        <p:nvSpPr>
          <p:cNvPr id="3" name="Text 1"/>
          <p:cNvSpPr txBox="1"/>
          <p:nvPr/>
        </p:nvSpPr>
        <p:spPr>
          <a:xfrm>
            <a:off x="640080" y="1097280"/>
            <a:ext cx="10515600" cy="457200"/>
          </a:xfrm>
          <a:prstGeom prst="rect">
            <a:avLst/>
          </a:prstGeom>
          <a:noFill/>
          <a:ln/>
        </p:spPr>
        <p:txBody>
          <a:bodyPr wrap="square" rtlCol="0" anchor="ctr"/>
          <a:lstStyle/>
          <a:p>
            <a:pPr indent="0" marL="0">
              <a:buNone/>
            </a:pPr>
            <a:r>
              <a:rPr lang="en-US" sz="1400" dirty="0">
                <a:solidFill>
                  <a:srgbClr val="6B7280"/>
                </a:solidFill>
                <a:latin typeface="Calibri" pitchFamily="34" charset="0"/>
                <a:ea typeface="Calibri" pitchFamily="34" charset="-122"/>
                <a:cs typeface="Calibri" pitchFamily="34" charset="-120"/>
              </a:rPr>
              <a:t>Changer la marque dans le dashboard Opérateur rethématise instantanément les deux apps — sans une ligne de code.</a:t>
            </a:r>
            <a:endParaRPr lang="en-US" sz="1400" dirty="0"/>
          </a:p>
        </p:txBody>
      </p:sp>
      <p:pic>
        <p:nvPicPr>
          <p:cNvPr id="4" name="Image 0" descr="/tmp/deck/passager_accueil_platform.png">    </p:cNvPr>
          <p:cNvPicPr>
            <a:picLocks noChangeAspect="1"/>
          </p:cNvPicPr>
          <p:nvPr/>
        </p:nvPicPr>
        <p:blipFill>
          <a:blip r:embed="rId1"/>
          <a:stretch>
            <a:fillRect/>
          </a:stretch>
        </p:blipFill>
        <p:spPr>
          <a:xfrm>
            <a:off x="2377440" y="1783080"/>
            <a:ext cx="1828800" cy="3793787"/>
          </a:xfrm>
          <a:prstGeom prst="rect">
            <a:avLst/>
          </a:prstGeom>
        </p:spPr>
      </p:pic>
      <p:sp>
        <p:nvSpPr>
          <p:cNvPr id="5" name="Text 2"/>
          <p:cNvSpPr txBox="1"/>
          <p:nvPr/>
        </p:nvSpPr>
        <p:spPr>
          <a:xfrm>
            <a:off x="1920240" y="5686595"/>
            <a:ext cx="2743200" cy="365760"/>
          </a:xfrm>
          <a:prstGeom prst="rect">
            <a:avLst/>
          </a:prstGeom>
          <a:noFill/>
          <a:ln/>
        </p:spPr>
        <p:txBody>
          <a:bodyPr wrap="square" rtlCol="0" anchor="ctr"/>
          <a:lstStyle/>
          <a:p>
            <a:pPr algn="ctr" indent="0" marL="0">
              <a:buNone/>
            </a:pPr>
            <a:r>
              <a:rPr lang="en-US" sz="1300" b="1" dirty="0">
                <a:solidFill>
                  <a:srgbClr val="101B3D"/>
                </a:solidFill>
                <a:latin typeface="Calibri" pitchFamily="34" charset="0"/>
                <a:ea typeface="Calibri" pitchFamily="34" charset="-122"/>
                <a:cs typeface="Calibri" pitchFamily="34" charset="-120"/>
              </a:rPr>
              <a:t>Identité "Mobility OS" (par défaut)</a:t>
            </a:r>
            <a:endParaRPr lang="en-US" sz="1300" dirty="0"/>
          </a:p>
        </p:txBody>
      </p:sp>
      <p:pic>
        <p:nvPicPr>
          <p:cNvPr id="6" name="Image 1" descr="/tmp/deck/passager_accueil_transatlas.png">    </p:cNvPr>
          <p:cNvPicPr>
            <a:picLocks noChangeAspect="1"/>
          </p:cNvPicPr>
          <p:nvPr/>
        </p:nvPicPr>
        <p:blipFill>
          <a:blip r:embed="rId2"/>
          <a:stretch>
            <a:fillRect/>
          </a:stretch>
        </p:blipFill>
        <p:spPr>
          <a:xfrm>
            <a:off x="7955280" y="1783080"/>
            <a:ext cx="1828800" cy="3793787"/>
          </a:xfrm>
          <a:prstGeom prst="rect">
            <a:avLst/>
          </a:prstGeom>
        </p:spPr>
      </p:pic>
      <p:sp>
        <p:nvSpPr>
          <p:cNvPr id="7" name="Text 3"/>
          <p:cNvSpPr txBox="1"/>
          <p:nvPr/>
        </p:nvSpPr>
        <p:spPr>
          <a:xfrm>
            <a:off x="7498080" y="5686595"/>
            <a:ext cx="2743200" cy="365760"/>
          </a:xfrm>
          <a:prstGeom prst="rect">
            <a:avLst/>
          </a:prstGeom>
          <a:noFill/>
          <a:ln/>
        </p:spPr>
        <p:txBody>
          <a:bodyPr wrap="square" rtlCol="0" anchor="ctr"/>
          <a:lstStyle/>
          <a:p>
            <a:pPr algn="ctr" indent="0" marL="0">
              <a:buNone/>
            </a:pPr>
            <a:r>
              <a:rPr lang="en-US" sz="1300" b="1" dirty="0">
                <a:solidFill>
                  <a:srgbClr val="0E6B5C"/>
                </a:solidFill>
                <a:latin typeface="Calibri" pitchFamily="34" charset="0"/>
                <a:ea typeface="Calibri" pitchFamily="34" charset="-122"/>
                <a:cs typeface="Calibri" pitchFamily="34" charset="-120"/>
              </a:rPr>
              <a:t>Identité opérateur pilote "TransAtlas"</a:t>
            </a:r>
            <a:endParaRPr lang="en-US" sz="1300" dirty="0"/>
          </a:p>
        </p:txBody>
      </p:sp>
      <p:sp>
        <p:nvSpPr>
          <p:cNvPr id="8" name="Shape 4"/>
          <p:cNvSpPr/>
          <p:nvPr/>
        </p:nvSpPr>
        <p:spPr>
          <a:xfrm>
            <a:off x="5257800" y="3451374"/>
            <a:ext cx="1691640" cy="457200"/>
          </a:xfrm>
          <a:prstGeom prst="roundRect">
            <a:avLst>
              <a:gd name="adj" fmla="val 50000"/>
            </a:avLst>
          </a:prstGeom>
          <a:solidFill>
            <a:srgbClr val="FF7A28"/>
          </a:solidFill>
          <a:ln/>
        </p:spPr>
      </p:sp>
      <p:sp>
        <p:nvSpPr>
          <p:cNvPr id="9" name="Text 5"/>
          <p:cNvSpPr txBox="1"/>
          <p:nvPr/>
        </p:nvSpPr>
        <p:spPr>
          <a:xfrm>
            <a:off x="5257800" y="3451374"/>
            <a:ext cx="1691640" cy="4572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ext 6"/>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Mobility OS Maroc</a:t>
            </a:r>
            <a:endParaRPr lang="en-US" sz="900" dirty="0"/>
          </a:p>
        </p:txBody>
      </p:sp>
      <p:sp>
        <p:nvSpPr>
          <p:cNvPr id="11" name="Text 7"/>
          <p:cNvSpPr/>
          <p:nvPr/>
        </p:nvSpPr>
        <p:spPr>
          <a:xfrm>
            <a:off x="8074152" y="6446520"/>
            <a:ext cx="36576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03 — Démonstration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640080"/>
          </a:xfrm>
          <a:prstGeom prst="rect">
            <a:avLst/>
          </a:prstGeom>
          <a:noFill/>
          <a:ln/>
        </p:spPr>
        <p:txBody>
          <a:bodyPr wrap="square" rtlCol="0" anchor="ctr"/>
          <a:lstStyle/>
          <a:p>
            <a:pPr indent="0" marL="0">
              <a:buNone/>
            </a:pPr>
            <a:r>
              <a:rPr lang="en-US" sz="3200" b="1" dirty="0">
                <a:solidFill>
                  <a:srgbClr val="101B3D"/>
                </a:solidFill>
                <a:latin typeface="Cambria" pitchFamily="34" charset="0"/>
                <a:ea typeface="Cambria" pitchFamily="34" charset="-122"/>
                <a:cs typeface="Cambria" pitchFamily="34" charset="-120"/>
              </a:rPr>
              <a:t>Modèle commercial</a:t>
            </a:r>
            <a:endParaRPr lang="en-US" sz="3200" dirty="0"/>
          </a:p>
        </p:txBody>
      </p:sp>
      <p:sp>
        <p:nvSpPr>
          <p:cNvPr id="3" name="Text 1"/>
          <p:cNvSpPr txBox="1"/>
          <p:nvPr/>
        </p:nvSpPr>
        <p:spPr>
          <a:xfrm>
            <a:off x="640080" y="1051560"/>
            <a:ext cx="10058400" cy="365760"/>
          </a:xfrm>
          <a:prstGeom prst="rect">
            <a:avLst/>
          </a:prstGeom>
          <a:noFill/>
          <a:ln/>
        </p:spPr>
        <p:txBody>
          <a:bodyPr wrap="square"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Trois leviers, alignés sur la réussite de l'opérateur.</a:t>
            </a:r>
            <a:endParaRPr lang="en-US" sz="1400" dirty="0"/>
          </a:p>
        </p:txBody>
      </p:sp>
      <p:sp>
        <p:nvSpPr>
          <p:cNvPr id="4" name="Shape 2"/>
          <p:cNvSpPr/>
          <p:nvPr/>
        </p:nvSpPr>
        <p:spPr>
          <a:xfrm>
            <a:off x="640080" y="1691640"/>
            <a:ext cx="3429000" cy="3749040"/>
          </a:xfrm>
          <a:prstGeom prst="roundRect">
            <a:avLst>
              <a:gd name="adj" fmla="val 2133"/>
            </a:avLst>
          </a:prstGeom>
          <a:solidFill>
            <a:srgbClr val="F7F7F6"/>
          </a:solidFill>
          <a:ln/>
          <a:effectLst>
            <a:outerShdw sx="100000" sy="100000" kx="0" ky="0" algn="bl" rotWithShape="0" blurRad="76200" dist="25400" dir="5400000">
              <a:srgbClr val="000000">
                <a:alpha val="12000"/>
              </a:srgbClr>
            </a:outerShdw>
          </a:effectLst>
        </p:spPr>
      </p:sp>
      <p:sp>
        <p:nvSpPr>
          <p:cNvPr id="5" name="Shape 3"/>
          <p:cNvSpPr/>
          <p:nvPr/>
        </p:nvSpPr>
        <p:spPr>
          <a:xfrm>
            <a:off x="960120" y="2011680"/>
            <a:ext cx="731520" cy="731520"/>
          </a:xfrm>
          <a:prstGeom prst="ellipse">
            <a:avLst/>
          </a:prstGeom>
          <a:solidFill>
            <a:srgbClr val="101B3D"/>
          </a:solidFill>
          <a:ln/>
        </p:spPr>
      </p:sp>
      <p:pic>
        <p:nvPicPr>
          <p:cNvPr id="6" name="Image 0" descr="/tmp/claude-0/-home-user-senmarket/ad06b58a-6687-5c78-b7b2-a2bff4010c5b/scratchpad/icons/fee_tools.png">    </p:cNvPr>
          <p:cNvPicPr>
            <a:picLocks noChangeAspect="1"/>
          </p:cNvPicPr>
          <p:nvPr/>
        </p:nvPicPr>
        <p:blipFill>
          <a:blip r:embed="rId1"/>
          <a:stretch>
            <a:fillRect/>
          </a:stretch>
        </p:blipFill>
        <p:spPr>
          <a:xfrm>
            <a:off x="1150315" y="2201875"/>
            <a:ext cx="351130" cy="351130"/>
          </a:xfrm>
          <a:prstGeom prst="rect">
            <a:avLst/>
          </a:prstGeom>
        </p:spPr>
      </p:pic>
      <p:sp>
        <p:nvSpPr>
          <p:cNvPr id="7" name="Text 4"/>
          <p:cNvSpPr txBox="1"/>
          <p:nvPr/>
        </p:nvSpPr>
        <p:spPr>
          <a:xfrm>
            <a:off x="960120" y="2880360"/>
            <a:ext cx="2788920" cy="365760"/>
          </a:xfrm>
          <a:prstGeom prst="rect">
            <a:avLst/>
          </a:prstGeom>
          <a:noFill/>
          <a:ln/>
        </p:spPr>
        <p:txBody>
          <a:bodyPr wrap="square"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Mise en service</a:t>
            </a:r>
            <a:endParaRPr lang="en-US" sz="1600" dirty="0"/>
          </a:p>
        </p:txBody>
      </p:sp>
      <p:sp>
        <p:nvSpPr>
          <p:cNvPr id="8" name="Text 5"/>
          <p:cNvSpPr txBox="1"/>
          <p:nvPr/>
        </p:nvSpPr>
        <p:spPr>
          <a:xfrm>
            <a:off x="960120" y="3246120"/>
            <a:ext cx="2788920" cy="502920"/>
          </a:xfrm>
          <a:prstGeom prst="rect">
            <a:avLst/>
          </a:prstGeom>
          <a:noFill/>
          <a:ln/>
        </p:spPr>
        <p:txBody>
          <a:bodyPr wrap="square" rtlCol="0" anchor="ctr"/>
          <a:lstStyle/>
          <a:p>
            <a:pPr indent="0" marL="0">
              <a:buNone/>
            </a:pPr>
            <a:r>
              <a:rPr lang="en-US" sz="2600" b="1" dirty="0">
                <a:solidFill>
                  <a:srgbClr val="FF7A28"/>
                </a:solidFill>
                <a:latin typeface="Cambria" pitchFamily="34" charset="0"/>
                <a:ea typeface="Cambria" pitchFamily="34" charset="-122"/>
                <a:cs typeface="Cambria" pitchFamily="34" charset="-120"/>
              </a:rPr>
              <a:t>15 000 DH</a:t>
            </a:r>
            <a:endParaRPr lang="en-US" sz="2600" dirty="0"/>
          </a:p>
        </p:txBody>
      </p:sp>
      <p:sp>
        <p:nvSpPr>
          <p:cNvPr id="9" name="Text 6"/>
          <p:cNvSpPr txBox="1"/>
          <p:nvPr/>
        </p:nvSpPr>
        <p:spPr>
          <a:xfrm>
            <a:off x="960120" y="3767328"/>
            <a:ext cx="278892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une fois</a:t>
            </a:r>
            <a:endParaRPr lang="en-US" sz="1100" dirty="0"/>
          </a:p>
        </p:txBody>
      </p:sp>
      <p:sp>
        <p:nvSpPr>
          <p:cNvPr id="10" name="Text 7"/>
          <p:cNvSpPr txBox="1"/>
          <p:nvPr/>
        </p:nvSpPr>
        <p:spPr>
          <a:xfrm>
            <a:off x="960120" y="4114800"/>
            <a:ext cx="2788920" cy="118872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Configuration de la marque, des zones et des tarifs, formation des équipes.</a:t>
            </a:r>
            <a:endParaRPr lang="en-US" sz="1200" dirty="0"/>
          </a:p>
        </p:txBody>
      </p:sp>
      <p:sp>
        <p:nvSpPr>
          <p:cNvPr id="11" name="Shape 8"/>
          <p:cNvSpPr/>
          <p:nvPr/>
        </p:nvSpPr>
        <p:spPr>
          <a:xfrm>
            <a:off x="4389120" y="1691640"/>
            <a:ext cx="3429000" cy="3749040"/>
          </a:xfrm>
          <a:prstGeom prst="roundRect">
            <a:avLst>
              <a:gd name="adj" fmla="val 2133"/>
            </a:avLst>
          </a:prstGeom>
          <a:solidFill>
            <a:srgbClr val="F7F7F6"/>
          </a:solidFill>
          <a:ln/>
          <a:effectLst>
            <a:outerShdw sx="100000" sy="100000" kx="0" ky="0" algn="bl" rotWithShape="0" blurRad="76200" dist="25400" dir="5400000">
              <a:srgbClr val="000000">
                <a:alpha val="12000"/>
              </a:srgbClr>
            </a:outerShdw>
          </a:effectLst>
        </p:spPr>
      </p:sp>
      <p:sp>
        <p:nvSpPr>
          <p:cNvPr id="12" name="Shape 9"/>
          <p:cNvSpPr/>
          <p:nvPr/>
        </p:nvSpPr>
        <p:spPr>
          <a:xfrm>
            <a:off x="4709160" y="2011680"/>
            <a:ext cx="731520" cy="731520"/>
          </a:xfrm>
          <a:prstGeom prst="ellipse">
            <a:avLst/>
          </a:prstGeom>
          <a:solidFill>
            <a:srgbClr val="101B3D"/>
          </a:solidFill>
          <a:ln/>
        </p:spPr>
      </p:sp>
      <p:pic>
        <p:nvPicPr>
          <p:cNvPr id="13" name="Image 1" descr="/tmp/claude-0/-home-user-senmarket/ad06b58a-6687-5c78-b7b2-a2bff4010c5b/scratchpad/icons/fee_calendar.png">    </p:cNvPr>
          <p:cNvPicPr>
            <a:picLocks noChangeAspect="1"/>
          </p:cNvPicPr>
          <p:nvPr/>
        </p:nvPicPr>
        <p:blipFill>
          <a:blip r:embed="rId2"/>
          <a:stretch>
            <a:fillRect/>
          </a:stretch>
        </p:blipFill>
        <p:spPr>
          <a:xfrm>
            <a:off x="4899355" y="2201875"/>
            <a:ext cx="351130" cy="351130"/>
          </a:xfrm>
          <a:prstGeom prst="rect">
            <a:avLst/>
          </a:prstGeom>
        </p:spPr>
      </p:pic>
      <p:sp>
        <p:nvSpPr>
          <p:cNvPr id="14" name="Text 10"/>
          <p:cNvSpPr txBox="1"/>
          <p:nvPr/>
        </p:nvSpPr>
        <p:spPr>
          <a:xfrm>
            <a:off x="4709160" y="2880360"/>
            <a:ext cx="2788920" cy="365760"/>
          </a:xfrm>
          <a:prstGeom prst="rect">
            <a:avLst/>
          </a:prstGeom>
          <a:noFill/>
          <a:ln/>
        </p:spPr>
        <p:txBody>
          <a:bodyPr wrap="square"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Abonnement</a:t>
            </a:r>
            <a:endParaRPr lang="en-US" sz="1600" dirty="0"/>
          </a:p>
        </p:txBody>
      </p:sp>
      <p:sp>
        <p:nvSpPr>
          <p:cNvPr id="15" name="Text 11"/>
          <p:cNvSpPr txBox="1"/>
          <p:nvPr/>
        </p:nvSpPr>
        <p:spPr>
          <a:xfrm>
            <a:off x="4709160" y="3246120"/>
            <a:ext cx="2788920" cy="502920"/>
          </a:xfrm>
          <a:prstGeom prst="rect">
            <a:avLst/>
          </a:prstGeom>
          <a:noFill/>
          <a:ln/>
        </p:spPr>
        <p:txBody>
          <a:bodyPr wrap="square" rtlCol="0" anchor="ctr"/>
          <a:lstStyle/>
          <a:p>
            <a:pPr indent="0" marL="0">
              <a:buNone/>
            </a:pPr>
            <a:r>
              <a:rPr lang="en-US" sz="2600" b="1" dirty="0">
                <a:solidFill>
                  <a:srgbClr val="FF7A28"/>
                </a:solidFill>
                <a:latin typeface="Cambria" pitchFamily="34" charset="0"/>
                <a:ea typeface="Cambria" pitchFamily="34" charset="-122"/>
                <a:cs typeface="Cambria" pitchFamily="34" charset="-120"/>
              </a:rPr>
              <a:t>2 500 DH</a:t>
            </a:r>
            <a:endParaRPr lang="en-US" sz="2600" dirty="0"/>
          </a:p>
        </p:txBody>
      </p:sp>
      <p:sp>
        <p:nvSpPr>
          <p:cNvPr id="16" name="Text 12"/>
          <p:cNvSpPr txBox="1"/>
          <p:nvPr/>
        </p:nvSpPr>
        <p:spPr>
          <a:xfrm>
            <a:off x="4709160" y="3767328"/>
            <a:ext cx="278892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par mois</a:t>
            </a:r>
            <a:endParaRPr lang="en-US" sz="1100" dirty="0"/>
          </a:p>
        </p:txBody>
      </p:sp>
      <p:sp>
        <p:nvSpPr>
          <p:cNvPr id="17" name="Text 13"/>
          <p:cNvSpPr txBox="1"/>
          <p:nvPr/>
        </p:nvSpPr>
        <p:spPr>
          <a:xfrm>
            <a:off x="4709160" y="4114800"/>
            <a:ext cx="2788920" cy="118872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Jusqu'à 30 chauffeurs actifs sur une ville — hébergement, maintenance, support.</a:t>
            </a:r>
            <a:endParaRPr lang="en-US" sz="1200" dirty="0"/>
          </a:p>
        </p:txBody>
      </p:sp>
      <p:sp>
        <p:nvSpPr>
          <p:cNvPr id="18" name="Shape 14"/>
          <p:cNvSpPr/>
          <p:nvPr/>
        </p:nvSpPr>
        <p:spPr>
          <a:xfrm>
            <a:off x="8138160" y="1691640"/>
            <a:ext cx="3429000" cy="3749040"/>
          </a:xfrm>
          <a:prstGeom prst="roundRect">
            <a:avLst>
              <a:gd name="adj" fmla="val 2133"/>
            </a:avLst>
          </a:prstGeom>
          <a:solidFill>
            <a:srgbClr val="F7F7F6"/>
          </a:solidFill>
          <a:ln/>
          <a:effectLst>
            <a:outerShdw sx="100000" sy="100000" kx="0" ky="0" algn="bl" rotWithShape="0" blurRad="76200" dist="25400" dir="5400000">
              <a:srgbClr val="000000">
                <a:alpha val="12000"/>
              </a:srgbClr>
            </a:outerShdw>
          </a:effectLst>
        </p:spPr>
      </p:sp>
      <p:sp>
        <p:nvSpPr>
          <p:cNvPr id="19" name="Shape 15"/>
          <p:cNvSpPr/>
          <p:nvPr/>
        </p:nvSpPr>
        <p:spPr>
          <a:xfrm>
            <a:off x="8458200" y="2011680"/>
            <a:ext cx="731520" cy="731520"/>
          </a:xfrm>
          <a:prstGeom prst="ellipse">
            <a:avLst/>
          </a:prstGeom>
          <a:solidFill>
            <a:srgbClr val="101B3D"/>
          </a:solidFill>
          <a:ln/>
        </p:spPr>
      </p:sp>
      <p:pic>
        <p:nvPicPr>
          <p:cNvPr id="20" name="Image 2" descr="/tmp/claude-0/-home-user-senmarket/ad06b58a-6687-5c78-b7b2-a2bff4010c5b/scratchpad/icons/fee_percent.png">    </p:cNvPr>
          <p:cNvPicPr>
            <a:picLocks noChangeAspect="1"/>
          </p:cNvPicPr>
          <p:nvPr/>
        </p:nvPicPr>
        <p:blipFill>
          <a:blip r:embed="rId3"/>
          <a:stretch>
            <a:fillRect/>
          </a:stretch>
        </p:blipFill>
        <p:spPr>
          <a:xfrm>
            <a:off x="8648395" y="2201875"/>
            <a:ext cx="351130" cy="351130"/>
          </a:xfrm>
          <a:prstGeom prst="rect">
            <a:avLst/>
          </a:prstGeom>
        </p:spPr>
      </p:pic>
      <p:sp>
        <p:nvSpPr>
          <p:cNvPr id="21" name="Text 16"/>
          <p:cNvSpPr txBox="1"/>
          <p:nvPr/>
        </p:nvSpPr>
        <p:spPr>
          <a:xfrm>
            <a:off x="8458200" y="2880360"/>
            <a:ext cx="2788920" cy="365760"/>
          </a:xfrm>
          <a:prstGeom prst="rect">
            <a:avLst/>
          </a:prstGeom>
          <a:noFill/>
          <a:ln/>
        </p:spPr>
        <p:txBody>
          <a:bodyPr wrap="square"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Commission</a:t>
            </a:r>
            <a:endParaRPr lang="en-US" sz="1600" dirty="0"/>
          </a:p>
        </p:txBody>
      </p:sp>
      <p:sp>
        <p:nvSpPr>
          <p:cNvPr id="22" name="Text 17"/>
          <p:cNvSpPr txBox="1"/>
          <p:nvPr/>
        </p:nvSpPr>
        <p:spPr>
          <a:xfrm>
            <a:off x="8458200" y="3246120"/>
            <a:ext cx="2788920" cy="502920"/>
          </a:xfrm>
          <a:prstGeom prst="rect">
            <a:avLst/>
          </a:prstGeom>
          <a:noFill/>
          <a:ln/>
        </p:spPr>
        <p:txBody>
          <a:bodyPr wrap="square" rtlCol="0" anchor="ctr"/>
          <a:lstStyle/>
          <a:p>
            <a:pPr indent="0" marL="0">
              <a:buNone/>
            </a:pPr>
            <a:r>
              <a:rPr lang="en-US" sz="2600" b="1" dirty="0">
                <a:solidFill>
                  <a:srgbClr val="FF7A28"/>
                </a:solidFill>
                <a:latin typeface="Cambria" pitchFamily="34" charset="0"/>
                <a:ea typeface="Cambria" pitchFamily="34" charset="-122"/>
                <a:cs typeface="Cambria" pitchFamily="34" charset="-120"/>
              </a:rPr>
              <a:t>5 %</a:t>
            </a:r>
            <a:endParaRPr lang="en-US" sz="2600" dirty="0"/>
          </a:p>
        </p:txBody>
      </p:sp>
      <p:sp>
        <p:nvSpPr>
          <p:cNvPr id="23" name="Text 18"/>
          <p:cNvSpPr txBox="1"/>
          <p:nvPr/>
        </p:nvSpPr>
        <p:spPr>
          <a:xfrm>
            <a:off x="8458200" y="3767328"/>
            <a:ext cx="2788920" cy="27432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par course</a:t>
            </a:r>
            <a:endParaRPr lang="en-US" sz="1100" dirty="0"/>
          </a:p>
        </p:txBody>
      </p:sp>
      <p:sp>
        <p:nvSpPr>
          <p:cNvPr id="24" name="Text 19"/>
          <p:cNvSpPr txBox="1"/>
          <p:nvPr/>
        </p:nvSpPr>
        <p:spPr>
          <a:xfrm>
            <a:off x="8458200" y="4114800"/>
            <a:ext cx="2788920" cy="118872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Prélevée sur le montant de chaque course — l'agence gagne quand l'opérateur gagne.</a:t>
            </a:r>
            <a:endParaRPr lang="en-US" sz="1200" dirty="0"/>
          </a:p>
        </p:txBody>
      </p:sp>
      <p:sp>
        <p:nvSpPr>
          <p:cNvPr id="25" name="Text 20"/>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Mobility OS Maroc</a:t>
            </a:r>
            <a:endParaRPr lang="en-US" sz="900" dirty="0"/>
          </a:p>
        </p:txBody>
      </p:sp>
      <p:sp>
        <p:nvSpPr>
          <p:cNvPr id="26" name="Text 21"/>
          <p:cNvSpPr/>
          <p:nvPr/>
        </p:nvSpPr>
        <p:spPr>
          <a:xfrm>
            <a:off x="8074152" y="6446520"/>
            <a:ext cx="36576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04 — Modèle commercial</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640080"/>
          </a:xfrm>
          <a:prstGeom prst="rect">
            <a:avLst/>
          </a:prstGeom>
          <a:noFill/>
          <a:ln/>
        </p:spPr>
        <p:txBody>
          <a:bodyPr wrap="square" rtlCol="0" anchor="ctr"/>
          <a:lstStyle/>
          <a:p>
            <a:pPr indent="0" marL="0">
              <a:buNone/>
            </a:pPr>
            <a:r>
              <a:rPr lang="en-US" sz="3200" b="1" dirty="0">
                <a:solidFill>
                  <a:srgbClr val="101B3D"/>
                </a:solidFill>
                <a:latin typeface="Cambria" pitchFamily="34" charset="0"/>
                <a:ea typeface="Cambria" pitchFamily="34" charset="-122"/>
                <a:cs typeface="Cambria" pitchFamily="34" charset="-120"/>
              </a:rPr>
              <a:t>Chiffrage indicatif du pilote</a:t>
            </a:r>
            <a:endParaRPr lang="en-US" sz="3200" dirty="0"/>
          </a:p>
        </p:txBody>
      </p:sp>
      <p:sp>
        <p:nvSpPr>
          <p:cNvPr id="3" name="Text 1"/>
          <p:cNvSpPr txBox="1"/>
          <p:nvPr/>
        </p:nvSpPr>
        <p:spPr>
          <a:xfrm>
            <a:off x="640080" y="1051560"/>
            <a:ext cx="10789920" cy="36576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Hypothèses de travail (volume et prix moyen), à ajuster ensemble — pas une offre figée.</a:t>
            </a:r>
            <a:endParaRPr lang="en-US" sz="1300" dirty="0"/>
          </a:p>
        </p:txBody>
      </p:sp>
      <p:sp>
        <p:nvSpPr>
          <p:cNvPr id="4" name="Text 2"/>
          <p:cNvSpPr txBox="1"/>
          <p:nvPr/>
        </p:nvSpPr>
        <p:spPr>
          <a:xfrm>
            <a:off x="640080" y="1600200"/>
            <a:ext cx="3383280" cy="502920"/>
          </a:xfrm>
          <a:prstGeom prst="rect">
            <a:avLst/>
          </a:prstGeom>
          <a:noFill/>
          <a:ln/>
        </p:spPr>
        <p:txBody>
          <a:bodyPr wrap="square" rtlCol="0" anchor="ctr"/>
          <a:lstStyle/>
          <a:p>
            <a:pPr indent="0" marL="0">
              <a:buNone/>
            </a:pPr>
            <a:r>
              <a:rPr lang="en-US" sz="2600" b="1" dirty="0">
                <a:solidFill>
                  <a:srgbClr val="101B3D"/>
                </a:solidFill>
                <a:latin typeface="Cambria" pitchFamily="34" charset="0"/>
                <a:ea typeface="Cambria" pitchFamily="34" charset="-122"/>
                <a:cs typeface="Cambria" pitchFamily="34" charset="-120"/>
              </a:rPr>
              <a:t>108 000 DH</a:t>
            </a:r>
            <a:endParaRPr lang="en-US" sz="2600" dirty="0"/>
          </a:p>
        </p:txBody>
      </p:sp>
      <p:sp>
        <p:nvSpPr>
          <p:cNvPr id="5" name="Text 3"/>
          <p:cNvSpPr txBox="1"/>
          <p:nvPr/>
        </p:nvSpPr>
        <p:spPr>
          <a:xfrm>
            <a:off x="640080" y="2084832"/>
            <a:ext cx="3383280" cy="274320"/>
          </a:xfrm>
          <a:prstGeom prst="rect">
            <a:avLst/>
          </a:prstGeom>
          <a:noFill/>
          <a:ln/>
        </p:spPr>
        <p:txBody>
          <a:bodyPr wrap="square" rtlCol="0" anchor="ctr"/>
          <a:lstStyle/>
          <a:p>
            <a:pPr indent="0" marL="0">
              <a:buNone/>
            </a:pPr>
            <a:r>
              <a:rPr lang="en-US" sz="1200" b="1" dirty="0">
                <a:solidFill>
                  <a:srgbClr val="FF7A28"/>
                </a:solidFill>
                <a:latin typeface="Calibri" pitchFamily="34" charset="0"/>
                <a:ea typeface="Calibri" pitchFamily="34" charset="-122"/>
                <a:cs typeface="Calibri" pitchFamily="34" charset="-120"/>
              </a:rPr>
              <a:t>GMV mois 1</a:t>
            </a:r>
            <a:endParaRPr lang="en-US" sz="1200" dirty="0"/>
          </a:p>
        </p:txBody>
      </p:sp>
      <p:sp>
        <p:nvSpPr>
          <p:cNvPr id="6" name="Text 4"/>
          <p:cNvSpPr txBox="1"/>
          <p:nvPr/>
        </p:nvSpPr>
        <p:spPr>
          <a:xfrm>
            <a:off x="640080" y="2340864"/>
            <a:ext cx="3383280" cy="27432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15 chauffeurs · 120 courses/j</a:t>
            </a:r>
            <a:endParaRPr lang="en-US" sz="1050" dirty="0"/>
          </a:p>
        </p:txBody>
      </p:sp>
      <p:sp>
        <p:nvSpPr>
          <p:cNvPr id="7" name="Text 5"/>
          <p:cNvSpPr txBox="1"/>
          <p:nvPr/>
        </p:nvSpPr>
        <p:spPr>
          <a:xfrm>
            <a:off x="4297680" y="1600200"/>
            <a:ext cx="3383280" cy="502920"/>
          </a:xfrm>
          <a:prstGeom prst="rect">
            <a:avLst/>
          </a:prstGeom>
          <a:noFill/>
          <a:ln/>
        </p:spPr>
        <p:txBody>
          <a:bodyPr wrap="square" rtlCol="0" anchor="ctr"/>
          <a:lstStyle/>
          <a:p>
            <a:pPr indent="0" marL="0">
              <a:buNone/>
            </a:pPr>
            <a:r>
              <a:rPr lang="en-US" sz="2600" b="1" dirty="0">
                <a:solidFill>
                  <a:srgbClr val="101B3D"/>
                </a:solidFill>
                <a:latin typeface="Cambria" pitchFamily="34" charset="0"/>
                <a:ea typeface="Cambria" pitchFamily="34" charset="-122"/>
                <a:cs typeface="Cambria" pitchFamily="34" charset="-120"/>
              </a:rPr>
              <a:t>190 000 DH</a:t>
            </a:r>
            <a:endParaRPr lang="en-US" sz="2600" dirty="0"/>
          </a:p>
        </p:txBody>
      </p:sp>
      <p:sp>
        <p:nvSpPr>
          <p:cNvPr id="8" name="Text 6"/>
          <p:cNvSpPr txBox="1"/>
          <p:nvPr/>
        </p:nvSpPr>
        <p:spPr>
          <a:xfrm>
            <a:off x="4297680" y="2084832"/>
            <a:ext cx="3383280" cy="274320"/>
          </a:xfrm>
          <a:prstGeom prst="rect">
            <a:avLst/>
          </a:prstGeom>
          <a:noFill/>
          <a:ln/>
        </p:spPr>
        <p:txBody>
          <a:bodyPr wrap="square" rtlCol="0" anchor="ctr"/>
          <a:lstStyle/>
          <a:p>
            <a:pPr indent="0" marL="0">
              <a:buNone/>
            </a:pPr>
            <a:r>
              <a:rPr lang="en-US" sz="1200" b="1" dirty="0">
                <a:solidFill>
                  <a:srgbClr val="FF7A28"/>
                </a:solidFill>
                <a:latin typeface="Calibri" pitchFamily="34" charset="0"/>
                <a:ea typeface="Calibri" pitchFamily="34" charset="-122"/>
                <a:cs typeface="Calibri" pitchFamily="34" charset="-120"/>
              </a:rPr>
              <a:t>GMV mois 2</a:t>
            </a:r>
            <a:endParaRPr lang="en-US" sz="1200" dirty="0"/>
          </a:p>
        </p:txBody>
      </p:sp>
      <p:sp>
        <p:nvSpPr>
          <p:cNvPr id="9" name="Text 7"/>
          <p:cNvSpPr txBox="1"/>
          <p:nvPr/>
        </p:nvSpPr>
        <p:spPr>
          <a:xfrm>
            <a:off x="4297680" y="2340864"/>
            <a:ext cx="3383280" cy="27432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montée en charge</a:t>
            </a:r>
            <a:endParaRPr lang="en-US" sz="1050" dirty="0"/>
          </a:p>
        </p:txBody>
      </p:sp>
      <p:sp>
        <p:nvSpPr>
          <p:cNvPr id="10" name="Text 8"/>
          <p:cNvSpPr txBox="1"/>
          <p:nvPr/>
        </p:nvSpPr>
        <p:spPr>
          <a:xfrm>
            <a:off x="7955280" y="1600200"/>
            <a:ext cx="3383280" cy="502920"/>
          </a:xfrm>
          <a:prstGeom prst="rect">
            <a:avLst/>
          </a:prstGeom>
          <a:noFill/>
          <a:ln/>
        </p:spPr>
        <p:txBody>
          <a:bodyPr wrap="square" rtlCol="0" anchor="ctr"/>
          <a:lstStyle/>
          <a:p>
            <a:pPr indent="0" marL="0">
              <a:buNone/>
            </a:pPr>
            <a:r>
              <a:rPr lang="en-US" sz="2600" b="1" dirty="0">
                <a:solidFill>
                  <a:srgbClr val="101B3D"/>
                </a:solidFill>
                <a:latin typeface="Cambria" pitchFamily="34" charset="0"/>
                <a:ea typeface="Cambria" pitchFamily="34" charset="-122"/>
                <a:cs typeface="Cambria" pitchFamily="34" charset="-120"/>
              </a:rPr>
              <a:t>270 000 DH</a:t>
            </a:r>
            <a:endParaRPr lang="en-US" sz="2600" dirty="0"/>
          </a:p>
        </p:txBody>
      </p:sp>
      <p:sp>
        <p:nvSpPr>
          <p:cNvPr id="11" name="Text 9"/>
          <p:cNvSpPr txBox="1"/>
          <p:nvPr/>
        </p:nvSpPr>
        <p:spPr>
          <a:xfrm>
            <a:off x="7955280" y="2084832"/>
            <a:ext cx="3383280" cy="274320"/>
          </a:xfrm>
          <a:prstGeom prst="rect">
            <a:avLst/>
          </a:prstGeom>
          <a:noFill/>
          <a:ln/>
        </p:spPr>
        <p:txBody>
          <a:bodyPr wrap="square" rtlCol="0" anchor="ctr"/>
          <a:lstStyle/>
          <a:p>
            <a:pPr indent="0" marL="0">
              <a:buNone/>
            </a:pPr>
            <a:r>
              <a:rPr lang="en-US" sz="1200" b="1" dirty="0">
                <a:solidFill>
                  <a:srgbClr val="FF7A28"/>
                </a:solidFill>
                <a:latin typeface="Calibri" pitchFamily="34" charset="0"/>
                <a:ea typeface="Calibri" pitchFamily="34" charset="-122"/>
                <a:cs typeface="Calibri" pitchFamily="34" charset="-120"/>
              </a:rPr>
              <a:t>GMV mois 3</a:t>
            </a:r>
            <a:endParaRPr lang="en-US" sz="1200" dirty="0"/>
          </a:p>
        </p:txBody>
      </p:sp>
      <p:sp>
        <p:nvSpPr>
          <p:cNvPr id="12" name="Text 10"/>
          <p:cNvSpPr txBox="1"/>
          <p:nvPr/>
        </p:nvSpPr>
        <p:spPr>
          <a:xfrm>
            <a:off x="7955280" y="2340864"/>
            <a:ext cx="3383280" cy="27432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30 chauffeurs · 300 courses/j</a:t>
            </a:r>
            <a:endParaRPr lang="en-US" sz="1050" dirty="0"/>
          </a:p>
        </p:txBody>
      </p:sp>
      <p:sp>
        <p:nvSpPr>
          <p:cNvPr id="13" name="Text 11"/>
          <p:cNvSpPr txBox="1"/>
          <p:nvPr/>
        </p:nvSpPr>
        <p:spPr>
          <a:xfrm>
            <a:off x="640080" y="2880360"/>
            <a:ext cx="10058400" cy="320040"/>
          </a:xfrm>
          <a:prstGeom prst="rect">
            <a:avLst/>
          </a:prstGeom>
          <a:noFill/>
          <a:ln/>
        </p:spPr>
        <p:txBody>
          <a:bodyPr wrap="square"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Revenu FlowDynamicsAgency par mois (setup fee + abonnement + commission)</a:t>
            </a:r>
            <a:endParaRPr lang="en-US" sz="1300" dirty="0"/>
          </a:p>
        </p:txBody>
      </p:sp>
      <p:graphicFrame>
        <p:nvGraphicFramePr>
          <p:cNvPr id="14" name="Chart 0" descr=""/>
          <p:cNvGraphicFramePr/>
          <p:nvPr/>
        </p:nvGraphicFramePr>
        <p:xfrm>
          <a:off x="640080" y="3246120"/>
          <a:ext cx="7315200" cy="306324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8229600" y="3246120"/>
            <a:ext cx="3291840" cy="3063240"/>
          </a:xfrm>
          <a:prstGeom prst="roundRect">
            <a:avLst>
              <a:gd name="adj" fmla="val 2388"/>
            </a:avLst>
          </a:prstGeom>
          <a:solidFill>
            <a:srgbClr val="101B3D"/>
          </a:solidFill>
          <a:ln/>
        </p:spPr>
      </p:sp>
      <p:sp>
        <p:nvSpPr>
          <p:cNvPr id="16" name="Text 13"/>
          <p:cNvSpPr txBox="1"/>
          <p:nvPr/>
        </p:nvSpPr>
        <p:spPr>
          <a:xfrm>
            <a:off x="8458200" y="3520440"/>
            <a:ext cx="2834640" cy="548640"/>
          </a:xfrm>
          <a:prstGeom prst="rect">
            <a:avLst/>
          </a:prstGeom>
          <a:noFill/>
          <a:ln/>
        </p:spPr>
        <p:txBody>
          <a:bodyPr wrap="square" rtlCol="0" anchor="ctr"/>
          <a:lstStyle/>
          <a:p>
            <a:pPr indent="0" marL="0">
              <a:buNone/>
            </a:pPr>
            <a:r>
              <a:rPr lang="en-US" sz="2600" b="1" dirty="0">
                <a:solidFill>
                  <a:srgbClr val="FF7A28"/>
                </a:solidFill>
                <a:latin typeface="Cambria" pitchFamily="34" charset="0"/>
                <a:ea typeface="Cambria" pitchFamily="34" charset="-122"/>
                <a:cs typeface="Cambria" pitchFamily="34" charset="-120"/>
              </a:rPr>
              <a:t>50 900 DH</a:t>
            </a:r>
            <a:endParaRPr lang="en-US" sz="2600" dirty="0"/>
          </a:p>
        </p:txBody>
      </p:sp>
      <p:sp>
        <p:nvSpPr>
          <p:cNvPr id="17" name="Text 14"/>
          <p:cNvSpPr txBox="1"/>
          <p:nvPr/>
        </p:nvSpPr>
        <p:spPr>
          <a:xfrm>
            <a:off x="8458200" y="4069080"/>
            <a:ext cx="2834640" cy="6400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revenu cumulé estimé sur les 3 mois du pilote</a:t>
            </a:r>
            <a:endParaRPr lang="en-US" sz="1200" dirty="0"/>
          </a:p>
        </p:txBody>
      </p:sp>
      <p:sp>
        <p:nvSpPr>
          <p:cNvPr id="18" name="Text 15"/>
          <p:cNvSpPr txBox="1"/>
          <p:nvPr/>
        </p:nvSpPr>
        <p:spPr>
          <a:xfrm>
            <a:off x="8458200" y="4937760"/>
            <a:ext cx="2834640" cy="1188720"/>
          </a:xfrm>
          <a:prstGeom prst="rect">
            <a:avLst/>
          </a:prstGeom>
          <a:noFill/>
          <a:ln/>
        </p:spPr>
        <p:txBody>
          <a:bodyPr wrap="square" rtlCol="0" anchor="ctr"/>
          <a:lstStyle/>
          <a:p>
            <a:pPr indent="0" marL="0">
              <a:buNone/>
            </a:pPr>
            <a:r>
              <a:rPr lang="en-US" sz="1100" i="1" dirty="0">
                <a:solidFill>
                  <a:srgbClr val="C7CCE0"/>
                </a:solidFill>
                <a:latin typeface="Calibri" pitchFamily="34" charset="0"/>
                <a:ea typeface="Calibri" pitchFamily="34" charset="-122"/>
                <a:cs typeface="Calibri" pitchFamily="34" charset="-120"/>
              </a:rPr>
              <a:t>Au mois 3, l'opérateur reverse environ 6 % de son chiffre d'affaires courses — et garde tout le reste.</a:t>
            </a:r>
            <a:endParaRPr lang="en-US" sz="1100" dirty="0"/>
          </a:p>
        </p:txBody>
      </p:sp>
      <p:sp>
        <p:nvSpPr>
          <p:cNvPr id="19" name="Text 16"/>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Mobility OS Maroc</a:t>
            </a:r>
            <a:endParaRPr lang="en-US" sz="900" dirty="0"/>
          </a:p>
        </p:txBody>
      </p:sp>
      <p:sp>
        <p:nvSpPr>
          <p:cNvPr id="20" name="Text 17"/>
          <p:cNvSpPr/>
          <p:nvPr/>
        </p:nvSpPr>
        <p:spPr>
          <a:xfrm>
            <a:off x="8074152" y="6446520"/>
            <a:ext cx="36576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04 — Modèle commercial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640080"/>
          </a:xfrm>
          <a:prstGeom prst="rect">
            <a:avLst/>
          </a:prstGeom>
          <a:noFill/>
          <a:ln/>
        </p:spPr>
        <p:txBody>
          <a:bodyPr wrap="square" rtlCol="0" anchor="ctr"/>
          <a:lstStyle/>
          <a:p>
            <a:pPr indent="0" marL="0">
              <a:buNone/>
            </a:pPr>
            <a:r>
              <a:rPr lang="en-US" sz="3200" b="1" dirty="0">
                <a:solidFill>
                  <a:srgbClr val="101B3D"/>
                </a:solidFill>
                <a:latin typeface="Cambria" pitchFamily="34" charset="0"/>
                <a:ea typeface="Cambria" pitchFamily="34" charset="-122"/>
                <a:cs typeface="Cambria" pitchFamily="34" charset="-120"/>
              </a:rPr>
              <a:t>Stratégie</a:t>
            </a:r>
            <a:endParaRPr lang="en-US" sz="3200" dirty="0"/>
          </a:p>
        </p:txBody>
      </p:sp>
      <p:sp>
        <p:nvSpPr>
          <p:cNvPr id="3" name="Text 1"/>
          <p:cNvSpPr txBox="1"/>
          <p:nvPr/>
        </p:nvSpPr>
        <p:spPr>
          <a:xfrm>
            <a:off x="640080" y="1051560"/>
            <a:ext cx="10058400" cy="365760"/>
          </a:xfrm>
          <a:prstGeom prst="rect">
            <a:avLst/>
          </a:prstGeom>
          <a:noFill/>
          <a:ln/>
        </p:spPr>
        <p:txBody>
          <a:bodyPr wrap="square" rtlCol="0" anchor="ctr"/>
          <a:lstStyle/>
          <a:p>
            <a:pPr indent="0" marL="0">
              <a:buNone/>
            </a:pPr>
            <a:r>
              <a:rPr lang="en-US" sz="1400" dirty="0">
                <a:solidFill>
                  <a:srgbClr val="6B7280"/>
                </a:solidFill>
                <a:latin typeface="Calibri" pitchFamily="34" charset="0"/>
                <a:ea typeface="Calibri" pitchFamily="34" charset="-122"/>
                <a:cs typeface="Calibri" pitchFamily="34" charset="-120"/>
              </a:rPr>
              <a:t>Ce qui rend le modèle scalable au-delà du premier pilote.</a:t>
            </a:r>
            <a:endParaRPr lang="en-US" sz="1400" dirty="0"/>
          </a:p>
        </p:txBody>
      </p:sp>
      <p:sp>
        <p:nvSpPr>
          <p:cNvPr id="4" name="Shape 2"/>
          <p:cNvSpPr/>
          <p:nvPr/>
        </p:nvSpPr>
        <p:spPr>
          <a:xfrm>
            <a:off x="640080" y="1965960"/>
            <a:ext cx="777240" cy="777240"/>
          </a:xfrm>
          <a:prstGeom prst="ellipse">
            <a:avLst/>
          </a:prstGeom>
          <a:solidFill>
            <a:srgbClr val="0E6B5C"/>
          </a:solidFill>
          <a:ln/>
        </p:spPr>
      </p:sp>
      <p:pic>
        <p:nvPicPr>
          <p:cNvPr id="5" name="Image 0" descr="/tmp/claude-0/-home-user-senmarket/ad06b58a-6687-5c78-b7b2-a2bff4010c5b/scratchpad/icons/strat_server.png">    </p:cNvPr>
          <p:cNvPicPr>
            <a:picLocks noChangeAspect="1"/>
          </p:cNvPicPr>
          <p:nvPr/>
        </p:nvPicPr>
        <p:blipFill>
          <a:blip r:embed="rId1"/>
          <a:stretch>
            <a:fillRect/>
          </a:stretch>
        </p:blipFill>
        <p:spPr>
          <a:xfrm>
            <a:off x="842162" y="2168042"/>
            <a:ext cx="373075" cy="373075"/>
          </a:xfrm>
          <a:prstGeom prst="rect">
            <a:avLst/>
          </a:prstGeom>
        </p:spPr>
      </p:pic>
      <p:sp>
        <p:nvSpPr>
          <p:cNvPr id="6" name="Text 3"/>
          <p:cNvSpPr txBox="1"/>
          <p:nvPr/>
        </p:nvSpPr>
        <p:spPr>
          <a:xfrm>
            <a:off x="1691640" y="1947672"/>
            <a:ext cx="9144000" cy="365760"/>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Un seul moteur technique</a:t>
            </a:r>
            <a:endParaRPr lang="en-US" sz="1700" dirty="0"/>
          </a:p>
        </p:txBody>
      </p:sp>
      <p:sp>
        <p:nvSpPr>
          <p:cNvPr id="7" name="Text 4"/>
          <p:cNvSpPr txBox="1"/>
          <p:nvPr/>
        </p:nvSpPr>
        <p:spPr>
          <a:xfrm>
            <a:off x="1691640" y="2313432"/>
            <a:ext cx="9601200" cy="59436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Même backend, même moteur de dispatch, mêmes apps "template" pour tous les opérateurs — pas un projet par opérateur.</a:t>
            </a:r>
            <a:endParaRPr lang="en-US" sz="1300" dirty="0"/>
          </a:p>
        </p:txBody>
      </p:sp>
      <p:sp>
        <p:nvSpPr>
          <p:cNvPr id="8" name="Shape 5"/>
          <p:cNvSpPr/>
          <p:nvPr/>
        </p:nvSpPr>
        <p:spPr>
          <a:xfrm>
            <a:off x="640080" y="3383280"/>
            <a:ext cx="777240" cy="777240"/>
          </a:xfrm>
          <a:prstGeom prst="ellipse">
            <a:avLst/>
          </a:prstGeom>
          <a:solidFill>
            <a:srgbClr val="0E6B5C"/>
          </a:solidFill>
          <a:ln/>
        </p:spPr>
      </p:sp>
      <p:pic>
        <p:nvPicPr>
          <p:cNvPr id="9" name="Image 1" descr="/tmp/claude-0/-home-user-senmarket/ad06b58a-6687-5c78-b7b2-a2bff4010c5b/scratchpad/icons/strat_sliders.png">    </p:cNvPr>
          <p:cNvPicPr>
            <a:picLocks noChangeAspect="1"/>
          </p:cNvPicPr>
          <p:nvPr/>
        </p:nvPicPr>
        <p:blipFill>
          <a:blip r:embed="rId2"/>
          <a:stretch>
            <a:fillRect/>
          </a:stretch>
        </p:blipFill>
        <p:spPr>
          <a:xfrm>
            <a:off x="842162" y="3585362"/>
            <a:ext cx="373075" cy="373075"/>
          </a:xfrm>
          <a:prstGeom prst="rect">
            <a:avLst/>
          </a:prstGeom>
        </p:spPr>
      </p:pic>
      <p:sp>
        <p:nvSpPr>
          <p:cNvPr id="10" name="Text 6"/>
          <p:cNvSpPr txBox="1"/>
          <p:nvPr/>
        </p:nvSpPr>
        <p:spPr>
          <a:xfrm>
            <a:off x="1691640" y="3364992"/>
            <a:ext cx="9144000" cy="365760"/>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Onboarding = configuration</a:t>
            </a:r>
            <a:endParaRPr lang="en-US" sz="1700" dirty="0"/>
          </a:p>
        </p:txBody>
      </p:sp>
      <p:sp>
        <p:nvSpPr>
          <p:cNvPr id="11" name="Text 7"/>
          <p:cNvSpPr txBox="1"/>
          <p:nvPr/>
        </p:nvSpPr>
        <p:spPr>
          <a:xfrm>
            <a:off x="1691640" y="3730752"/>
            <a:ext cx="9601200" cy="59436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Marque, zones, tarifs, chauffeurs : brancher un nouvel opérateur est une opération de paramétrage, pas un nouveau développement.</a:t>
            </a:r>
            <a:endParaRPr lang="en-US" sz="1300" dirty="0"/>
          </a:p>
        </p:txBody>
      </p:sp>
      <p:sp>
        <p:nvSpPr>
          <p:cNvPr id="12" name="Shape 8"/>
          <p:cNvSpPr/>
          <p:nvPr/>
        </p:nvSpPr>
        <p:spPr>
          <a:xfrm>
            <a:off x="640080" y="4800600"/>
            <a:ext cx="777240" cy="777240"/>
          </a:xfrm>
          <a:prstGeom prst="ellipse">
            <a:avLst/>
          </a:prstGeom>
          <a:solidFill>
            <a:srgbClr val="0E6B5C"/>
          </a:solidFill>
          <a:ln/>
        </p:spPr>
      </p:sp>
      <p:pic>
        <p:nvPicPr>
          <p:cNvPr id="13" name="Image 2" descr="/tmp/claude-0/-home-user-senmarket/ad06b58a-6687-5c78-b7b2-a2bff4010c5b/scratchpad/icons/strat_shield.png">    </p:cNvPr>
          <p:cNvPicPr>
            <a:picLocks noChangeAspect="1"/>
          </p:cNvPicPr>
          <p:nvPr/>
        </p:nvPicPr>
        <p:blipFill>
          <a:blip r:embed="rId3"/>
          <a:stretch>
            <a:fillRect/>
          </a:stretch>
        </p:blipFill>
        <p:spPr>
          <a:xfrm>
            <a:off x="842162" y="5002682"/>
            <a:ext cx="373075" cy="373075"/>
          </a:xfrm>
          <a:prstGeom prst="rect">
            <a:avLst/>
          </a:prstGeom>
        </p:spPr>
      </p:pic>
      <p:sp>
        <p:nvSpPr>
          <p:cNvPr id="14" name="Text 9"/>
          <p:cNvSpPr txBox="1"/>
          <p:nvPr/>
        </p:nvSpPr>
        <p:spPr>
          <a:xfrm>
            <a:off x="1691640" y="4782312"/>
            <a:ext cx="9144000" cy="365760"/>
          </a:xfrm>
          <a:prstGeom prst="rect">
            <a:avLst/>
          </a:prstGeom>
          <a:noFill/>
          <a:ln/>
        </p:spPr>
        <p:txBody>
          <a:bodyPr wrap="square"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Isolation stricte par opérateur</a:t>
            </a:r>
            <a:endParaRPr lang="en-US" sz="1700" dirty="0"/>
          </a:p>
        </p:txBody>
      </p:sp>
      <p:sp>
        <p:nvSpPr>
          <p:cNvPr id="15" name="Text 10"/>
          <p:cNvSpPr txBox="1"/>
          <p:nvPr/>
        </p:nvSpPr>
        <p:spPr>
          <a:xfrm>
            <a:off x="1691640" y="5148072"/>
            <a:ext cx="9601200" cy="59436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Chaque opérateur ne voit et ne dispatche que ses propres chauffeurs et courses — jamais partagés avec un opérateur voisin.</a:t>
            </a:r>
            <a:endParaRPr lang="en-US" sz="1300" dirty="0"/>
          </a:p>
        </p:txBody>
      </p:sp>
      <p:sp>
        <p:nvSpPr>
          <p:cNvPr id="16" name="Text 11"/>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Mobility OS Maroc</a:t>
            </a:r>
            <a:endParaRPr lang="en-US" sz="900" dirty="0"/>
          </a:p>
        </p:txBody>
      </p:sp>
      <p:sp>
        <p:nvSpPr>
          <p:cNvPr id="17" name="Text 12"/>
          <p:cNvSpPr/>
          <p:nvPr/>
        </p:nvSpPr>
        <p:spPr>
          <a:xfrm>
            <a:off x="8074152" y="6446520"/>
            <a:ext cx="36576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05 — Stratégie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515600" cy="640080"/>
          </a:xfrm>
          <a:prstGeom prst="rect">
            <a:avLst/>
          </a:prstGeom>
          <a:noFill/>
          <a:ln/>
        </p:spPr>
        <p:txBody>
          <a:bodyPr wrap="square" rtlCol="0" anchor="ctr"/>
          <a:lstStyle/>
          <a:p>
            <a:pPr indent="0" marL="0">
              <a:buNone/>
            </a:pPr>
            <a:r>
              <a:rPr lang="en-US" sz="3000" b="1" dirty="0">
                <a:solidFill>
                  <a:srgbClr val="101B3D"/>
                </a:solidFill>
                <a:latin typeface="Cambria" pitchFamily="34" charset="0"/>
                <a:ea typeface="Cambria" pitchFamily="34" charset="-122"/>
                <a:cs typeface="Cambria" pitchFamily="34" charset="-120"/>
              </a:rPr>
              <a:t>Plan de déploiement du pilote</a:t>
            </a:r>
            <a:endParaRPr lang="en-US" sz="3000" dirty="0"/>
          </a:p>
        </p:txBody>
      </p:sp>
      <p:sp>
        <p:nvSpPr>
          <p:cNvPr id="3" name="Shape 1"/>
          <p:cNvSpPr/>
          <p:nvPr/>
        </p:nvSpPr>
        <p:spPr>
          <a:xfrm>
            <a:off x="1600200" y="2331720"/>
            <a:ext cx="8961120" cy="0"/>
          </a:xfrm>
          <a:prstGeom prst="line">
            <a:avLst/>
          </a:prstGeom>
          <a:noFill/>
          <a:ln w="25400">
            <a:solidFill>
              <a:srgbClr val="D8DBE4"/>
            </a:solidFill>
            <a:prstDash val="solid"/>
          </a:ln>
        </p:spPr>
      </p:sp>
      <p:sp>
        <p:nvSpPr>
          <p:cNvPr id="4" name="Shape 2"/>
          <p:cNvSpPr/>
          <p:nvPr/>
        </p:nvSpPr>
        <p:spPr>
          <a:xfrm>
            <a:off x="1307592" y="2039112"/>
            <a:ext cx="585216" cy="585216"/>
          </a:xfrm>
          <a:prstGeom prst="ellipse">
            <a:avLst/>
          </a:prstGeom>
          <a:solidFill>
            <a:srgbClr val="101B3D"/>
          </a:solidFill>
          <a:ln/>
        </p:spPr>
      </p:sp>
      <p:sp>
        <p:nvSpPr>
          <p:cNvPr id="5" name="Text 3"/>
          <p:cNvSpPr txBox="1"/>
          <p:nvPr/>
        </p:nvSpPr>
        <p:spPr>
          <a:xfrm>
            <a:off x="1307592" y="2039112"/>
            <a:ext cx="585216" cy="585216"/>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640080" y="2788920"/>
            <a:ext cx="1920240" cy="320040"/>
          </a:xfrm>
          <a:prstGeom prst="rect">
            <a:avLst/>
          </a:prstGeom>
          <a:noFill/>
          <a:ln/>
        </p:spPr>
        <p:txBody>
          <a:bodyPr wrap="square"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Cadrage</a:t>
            </a:r>
            <a:endParaRPr lang="en-US" sz="1400" dirty="0"/>
          </a:p>
        </p:txBody>
      </p:sp>
      <p:sp>
        <p:nvSpPr>
          <p:cNvPr id="7" name="Text 5"/>
          <p:cNvSpPr txBox="1"/>
          <p:nvPr/>
        </p:nvSpPr>
        <p:spPr>
          <a:xfrm>
            <a:off x="640080" y="3108960"/>
            <a:ext cx="1920240" cy="274320"/>
          </a:xfrm>
          <a:prstGeom prst="rect">
            <a:avLst/>
          </a:prstGeom>
          <a:noFill/>
          <a:ln/>
        </p:spPr>
        <p:txBody>
          <a:bodyPr wrap="square" rtlCol="0" anchor="ctr"/>
          <a:lstStyle/>
          <a:p>
            <a:pPr algn="ctr" indent="0" marL="0">
              <a:buNone/>
            </a:pPr>
            <a:r>
              <a:rPr lang="en-US" sz="1050" b="1" dirty="0">
                <a:solidFill>
                  <a:srgbClr val="FF7A28"/>
                </a:solidFill>
                <a:latin typeface="Calibri" pitchFamily="34" charset="0"/>
                <a:ea typeface="Calibri" pitchFamily="34" charset="-122"/>
                <a:cs typeface="Calibri" pitchFamily="34" charset="-120"/>
              </a:rPr>
              <a:t>Semaine 1</a:t>
            </a:r>
            <a:endParaRPr lang="en-US" sz="1050" dirty="0"/>
          </a:p>
        </p:txBody>
      </p:sp>
      <p:sp>
        <p:nvSpPr>
          <p:cNvPr id="8" name="Text 6"/>
          <p:cNvSpPr txBox="1"/>
          <p:nvPr/>
        </p:nvSpPr>
        <p:spPr>
          <a:xfrm>
            <a:off x="640080" y="3429000"/>
            <a:ext cx="1920240" cy="1463040"/>
          </a:xfrm>
          <a:prstGeom prst="rect">
            <a:avLst/>
          </a:prstGeom>
          <a:noFill/>
          <a:ln/>
        </p:spPr>
        <p:txBody>
          <a:bodyPr wrap="square"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EOI signée, ville et zone choisies, tarifs et premiers chauffeurs listés.</a:t>
            </a:r>
            <a:endParaRPr lang="en-US" sz="1050" dirty="0"/>
          </a:p>
        </p:txBody>
      </p:sp>
      <p:sp>
        <p:nvSpPr>
          <p:cNvPr id="9" name="Shape 7"/>
          <p:cNvSpPr/>
          <p:nvPr/>
        </p:nvSpPr>
        <p:spPr>
          <a:xfrm>
            <a:off x="3547872" y="2039112"/>
            <a:ext cx="585216" cy="585216"/>
          </a:xfrm>
          <a:prstGeom prst="ellipse">
            <a:avLst/>
          </a:prstGeom>
          <a:solidFill>
            <a:srgbClr val="101B3D"/>
          </a:solidFill>
          <a:ln/>
        </p:spPr>
      </p:sp>
      <p:sp>
        <p:nvSpPr>
          <p:cNvPr id="10" name="Text 8"/>
          <p:cNvSpPr txBox="1"/>
          <p:nvPr/>
        </p:nvSpPr>
        <p:spPr>
          <a:xfrm>
            <a:off x="3547872" y="2039112"/>
            <a:ext cx="585216" cy="585216"/>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txBox="1"/>
          <p:nvPr/>
        </p:nvSpPr>
        <p:spPr>
          <a:xfrm>
            <a:off x="2880360" y="2788920"/>
            <a:ext cx="1920240" cy="320040"/>
          </a:xfrm>
          <a:prstGeom prst="rect">
            <a:avLst/>
          </a:prstGeom>
          <a:noFill/>
          <a:ln/>
        </p:spPr>
        <p:txBody>
          <a:bodyPr wrap="square"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Construction</a:t>
            </a:r>
            <a:endParaRPr lang="en-US" sz="1400" dirty="0"/>
          </a:p>
        </p:txBody>
      </p:sp>
      <p:sp>
        <p:nvSpPr>
          <p:cNvPr id="12" name="Text 10"/>
          <p:cNvSpPr txBox="1"/>
          <p:nvPr/>
        </p:nvSpPr>
        <p:spPr>
          <a:xfrm>
            <a:off x="2880360" y="3108960"/>
            <a:ext cx="1920240" cy="274320"/>
          </a:xfrm>
          <a:prstGeom prst="rect">
            <a:avLst/>
          </a:prstGeom>
          <a:noFill/>
          <a:ln/>
        </p:spPr>
        <p:txBody>
          <a:bodyPr wrap="square" rtlCol="0" anchor="ctr"/>
          <a:lstStyle/>
          <a:p>
            <a:pPr algn="ctr" indent="0" marL="0">
              <a:buNone/>
            </a:pPr>
            <a:r>
              <a:rPr lang="en-US" sz="1050" b="1" dirty="0">
                <a:solidFill>
                  <a:srgbClr val="FF7A28"/>
                </a:solidFill>
                <a:latin typeface="Calibri" pitchFamily="34" charset="0"/>
                <a:ea typeface="Calibri" pitchFamily="34" charset="-122"/>
                <a:cs typeface="Calibri" pitchFamily="34" charset="-120"/>
              </a:rPr>
              <a:t>2-4 semaines</a:t>
            </a:r>
            <a:endParaRPr lang="en-US" sz="1050" dirty="0"/>
          </a:p>
        </p:txBody>
      </p:sp>
      <p:sp>
        <p:nvSpPr>
          <p:cNvPr id="13" name="Text 11"/>
          <p:cNvSpPr txBox="1"/>
          <p:nvPr/>
        </p:nvSpPr>
        <p:spPr>
          <a:xfrm>
            <a:off x="2880360" y="3429000"/>
            <a:ext cx="1920240" cy="1463040"/>
          </a:xfrm>
          <a:prstGeom prst="rect">
            <a:avLst/>
          </a:prstGeom>
          <a:noFill/>
          <a:ln/>
        </p:spPr>
        <p:txBody>
          <a:bodyPr wrap="square"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Infrastructure réelle branchée sur les maquettes existantes.</a:t>
            </a:r>
            <a:endParaRPr lang="en-US" sz="1050" dirty="0"/>
          </a:p>
        </p:txBody>
      </p:sp>
      <p:sp>
        <p:nvSpPr>
          <p:cNvPr id="14" name="Shape 12"/>
          <p:cNvSpPr/>
          <p:nvPr/>
        </p:nvSpPr>
        <p:spPr>
          <a:xfrm>
            <a:off x="5788152" y="2039112"/>
            <a:ext cx="585216" cy="585216"/>
          </a:xfrm>
          <a:prstGeom prst="ellipse">
            <a:avLst/>
          </a:prstGeom>
          <a:solidFill>
            <a:srgbClr val="101B3D"/>
          </a:solidFill>
          <a:ln/>
        </p:spPr>
      </p:sp>
      <p:sp>
        <p:nvSpPr>
          <p:cNvPr id="15" name="Text 13"/>
          <p:cNvSpPr txBox="1"/>
          <p:nvPr/>
        </p:nvSpPr>
        <p:spPr>
          <a:xfrm>
            <a:off x="5788152" y="2039112"/>
            <a:ext cx="585216" cy="585216"/>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txBox="1"/>
          <p:nvPr/>
        </p:nvSpPr>
        <p:spPr>
          <a:xfrm>
            <a:off x="5120640" y="2788920"/>
            <a:ext cx="1920240" cy="320040"/>
          </a:xfrm>
          <a:prstGeom prst="rect">
            <a:avLst/>
          </a:prstGeom>
          <a:noFill/>
          <a:ln/>
        </p:spPr>
        <p:txBody>
          <a:bodyPr wrap="square"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Lancement fermé</a:t>
            </a:r>
            <a:endParaRPr lang="en-US" sz="1400" dirty="0"/>
          </a:p>
        </p:txBody>
      </p:sp>
      <p:sp>
        <p:nvSpPr>
          <p:cNvPr id="17" name="Text 15"/>
          <p:cNvSpPr txBox="1"/>
          <p:nvPr/>
        </p:nvSpPr>
        <p:spPr>
          <a:xfrm>
            <a:off x="5120640" y="3108960"/>
            <a:ext cx="1920240" cy="274320"/>
          </a:xfrm>
          <a:prstGeom prst="rect">
            <a:avLst/>
          </a:prstGeom>
          <a:noFill/>
          <a:ln/>
        </p:spPr>
        <p:txBody>
          <a:bodyPr wrap="square" rtlCol="0" anchor="ctr"/>
          <a:lstStyle/>
          <a:p>
            <a:pPr algn="ctr" indent="0" marL="0">
              <a:buNone/>
            </a:pPr>
            <a:r>
              <a:rPr lang="en-US" sz="1050" b="1" dirty="0">
                <a:solidFill>
                  <a:srgbClr val="FF7A28"/>
                </a:solidFill>
                <a:latin typeface="Calibri" pitchFamily="34" charset="0"/>
                <a:ea typeface="Calibri" pitchFamily="34" charset="-122"/>
                <a:cs typeface="Calibri" pitchFamily="34" charset="-120"/>
              </a:rPr>
              <a:t>1-2 semaines</a:t>
            </a:r>
            <a:endParaRPr lang="en-US" sz="1050" dirty="0"/>
          </a:p>
        </p:txBody>
      </p:sp>
      <p:sp>
        <p:nvSpPr>
          <p:cNvPr id="18" name="Text 16"/>
          <p:cNvSpPr txBox="1"/>
          <p:nvPr/>
        </p:nvSpPr>
        <p:spPr>
          <a:xfrm>
            <a:off x="5120640" y="3429000"/>
            <a:ext cx="1920240" cy="1463040"/>
          </a:xfrm>
          <a:prstGeom prst="rect">
            <a:avLst/>
          </a:prstGeom>
          <a:noFill/>
          <a:ln/>
        </p:spPr>
        <p:txBody>
          <a:bodyPr wrap="square"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5 à 10 chauffeurs, cercle restreint de passagers de test.</a:t>
            </a:r>
            <a:endParaRPr lang="en-US" sz="1050" dirty="0"/>
          </a:p>
        </p:txBody>
      </p:sp>
      <p:sp>
        <p:nvSpPr>
          <p:cNvPr id="19" name="Shape 17"/>
          <p:cNvSpPr/>
          <p:nvPr/>
        </p:nvSpPr>
        <p:spPr>
          <a:xfrm>
            <a:off x="8028432" y="2039112"/>
            <a:ext cx="585216" cy="585216"/>
          </a:xfrm>
          <a:prstGeom prst="ellipse">
            <a:avLst/>
          </a:prstGeom>
          <a:solidFill>
            <a:srgbClr val="101B3D"/>
          </a:solidFill>
          <a:ln/>
        </p:spPr>
      </p:sp>
      <p:sp>
        <p:nvSpPr>
          <p:cNvPr id="20" name="Text 18"/>
          <p:cNvSpPr txBox="1"/>
          <p:nvPr/>
        </p:nvSpPr>
        <p:spPr>
          <a:xfrm>
            <a:off x="8028432" y="2039112"/>
            <a:ext cx="585216" cy="585216"/>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9"/>
          <p:cNvSpPr txBox="1"/>
          <p:nvPr/>
        </p:nvSpPr>
        <p:spPr>
          <a:xfrm>
            <a:off x="7360920" y="2788920"/>
            <a:ext cx="1920240" cy="320040"/>
          </a:xfrm>
          <a:prstGeom prst="rect">
            <a:avLst/>
          </a:prstGeom>
          <a:noFill/>
          <a:ln/>
        </p:spPr>
        <p:txBody>
          <a:bodyPr wrap="square"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Lancement public</a:t>
            </a:r>
            <a:endParaRPr lang="en-US" sz="1400" dirty="0"/>
          </a:p>
        </p:txBody>
      </p:sp>
      <p:sp>
        <p:nvSpPr>
          <p:cNvPr id="22" name="Text 20"/>
          <p:cNvSpPr txBox="1"/>
          <p:nvPr/>
        </p:nvSpPr>
        <p:spPr>
          <a:xfrm>
            <a:off x="7360920" y="3108960"/>
            <a:ext cx="1920240" cy="274320"/>
          </a:xfrm>
          <a:prstGeom prst="rect">
            <a:avLst/>
          </a:prstGeom>
          <a:noFill/>
          <a:ln/>
        </p:spPr>
        <p:txBody>
          <a:bodyPr wrap="square" rtlCol="0" anchor="ctr"/>
          <a:lstStyle/>
          <a:p>
            <a:pPr algn="ctr" indent="0" marL="0">
              <a:buNone/>
            </a:pPr>
            <a:r>
              <a:rPr lang="en-US" sz="1050" b="1" dirty="0">
                <a:solidFill>
                  <a:srgbClr val="FF7A28"/>
                </a:solidFill>
                <a:latin typeface="Calibri" pitchFamily="34" charset="0"/>
                <a:ea typeface="Calibri" pitchFamily="34" charset="-122"/>
                <a:cs typeface="Calibri" pitchFamily="34" charset="-120"/>
              </a:rPr>
              <a:t>2-4 semaines</a:t>
            </a:r>
            <a:endParaRPr lang="en-US" sz="1050" dirty="0"/>
          </a:p>
        </p:txBody>
      </p:sp>
      <p:sp>
        <p:nvSpPr>
          <p:cNvPr id="23" name="Text 21"/>
          <p:cNvSpPr txBox="1"/>
          <p:nvPr/>
        </p:nvSpPr>
        <p:spPr>
          <a:xfrm>
            <a:off x="7360920" y="3429000"/>
            <a:ext cx="1920240" cy="1463040"/>
          </a:xfrm>
          <a:prstGeom prst="rect">
            <a:avLst/>
          </a:prstGeom>
          <a:noFill/>
          <a:ln/>
        </p:spPr>
        <p:txBody>
          <a:bodyPr wrap="square"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Ouverture au public, montée en charge de la flotte.</a:t>
            </a:r>
            <a:endParaRPr lang="en-US" sz="1050" dirty="0"/>
          </a:p>
        </p:txBody>
      </p:sp>
      <p:sp>
        <p:nvSpPr>
          <p:cNvPr id="24" name="Shape 22"/>
          <p:cNvSpPr/>
          <p:nvPr/>
        </p:nvSpPr>
        <p:spPr>
          <a:xfrm>
            <a:off x="10268712" y="2039112"/>
            <a:ext cx="585216" cy="585216"/>
          </a:xfrm>
          <a:prstGeom prst="ellipse">
            <a:avLst/>
          </a:prstGeom>
          <a:solidFill>
            <a:srgbClr val="FF7A28"/>
          </a:solidFill>
          <a:ln/>
        </p:spPr>
      </p:sp>
      <p:sp>
        <p:nvSpPr>
          <p:cNvPr id="25" name="Text 23"/>
          <p:cNvSpPr txBox="1"/>
          <p:nvPr/>
        </p:nvSpPr>
        <p:spPr>
          <a:xfrm>
            <a:off x="10268712" y="2039112"/>
            <a:ext cx="585216" cy="585216"/>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6" name="Text 24"/>
          <p:cNvSpPr txBox="1"/>
          <p:nvPr/>
        </p:nvSpPr>
        <p:spPr>
          <a:xfrm>
            <a:off x="9601200" y="2788920"/>
            <a:ext cx="1920240" cy="320040"/>
          </a:xfrm>
          <a:prstGeom prst="rect">
            <a:avLst/>
          </a:prstGeom>
          <a:noFill/>
          <a:ln/>
        </p:spPr>
        <p:txBody>
          <a:bodyPr wrap="square"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Bilan</a:t>
            </a:r>
            <a:endParaRPr lang="en-US" sz="1400" dirty="0"/>
          </a:p>
        </p:txBody>
      </p:sp>
      <p:sp>
        <p:nvSpPr>
          <p:cNvPr id="27" name="Text 25"/>
          <p:cNvSpPr txBox="1"/>
          <p:nvPr/>
        </p:nvSpPr>
        <p:spPr>
          <a:xfrm>
            <a:off x="9601200" y="3108960"/>
            <a:ext cx="1920240" cy="274320"/>
          </a:xfrm>
          <a:prstGeom prst="rect">
            <a:avLst/>
          </a:prstGeom>
          <a:noFill/>
          <a:ln/>
        </p:spPr>
        <p:txBody>
          <a:bodyPr wrap="square" rtlCol="0" anchor="ctr"/>
          <a:lstStyle/>
          <a:p>
            <a:pPr algn="ctr" indent="0" marL="0">
              <a:buNone/>
            </a:pPr>
            <a:r>
              <a:rPr lang="en-US" sz="1050" b="1" dirty="0">
                <a:solidFill>
                  <a:srgbClr val="FF7A28"/>
                </a:solidFill>
                <a:latin typeface="Calibri" pitchFamily="34" charset="0"/>
                <a:ea typeface="Calibri" pitchFamily="34" charset="-122"/>
                <a:cs typeface="Calibri" pitchFamily="34" charset="-120"/>
              </a:rPr>
              <a:t>Fin du pilote</a:t>
            </a:r>
            <a:endParaRPr lang="en-US" sz="1050" dirty="0"/>
          </a:p>
        </p:txBody>
      </p:sp>
      <p:sp>
        <p:nvSpPr>
          <p:cNvPr id="28" name="Text 26"/>
          <p:cNvSpPr txBox="1"/>
          <p:nvPr/>
        </p:nvSpPr>
        <p:spPr>
          <a:xfrm>
            <a:off x="9601200" y="3429000"/>
            <a:ext cx="1920240" cy="1463040"/>
          </a:xfrm>
          <a:prstGeom prst="rect">
            <a:avLst/>
          </a:prstGeom>
          <a:noFill/>
          <a:ln/>
        </p:spPr>
        <p:txBody>
          <a:bodyPr wrap="square"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Revue des métriques, décision de passage à l'échelle.</a:t>
            </a:r>
            <a:endParaRPr lang="en-US" sz="1050" dirty="0"/>
          </a:p>
        </p:txBody>
      </p:sp>
      <p:sp>
        <p:nvSpPr>
          <p:cNvPr id="29" name="Text 27"/>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Mobility OS Maroc</a:t>
            </a:r>
            <a:endParaRPr lang="en-US" sz="900" dirty="0"/>
          </a:p>
        </p:txBody>
      </p:sp>
      <p:sp>
        <p:nvSpPr>
          <p:cNvPr id="30" name="Text 28"/>
          <p:cNvSpPr/>
          <p:nvPr/>
        </p:nvSpPr>
        <p:spPr>
          <a:xfrm>
            <a:off x="8074152" y="6446520"/>
            <a:ext cx="36576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06 — Pilote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640080"/>
          </a:xfrm>
          <a:prstGeom prst="rect">
            <a:avLst/>
          </a:prstGeom>
          <a:noFill/>
          <a:ln/>
        </p:spPr>
        <p:txBody>
          <a:bodyPr wrap="square" rtlCol="0" anchor="ctr"/>
          <a:lstStyle/>
          <a:p>
            <a:pPr indent="0" marL="0">
              <a:buNone/>
            </a:pPr>
            <a:r>
              <a:rPr lang="en-US" sz="3000" b="1" dirty="0">
                <a:solidFill>
                  <a:srgbClr val="101B3D"/>
                </a:solidFill>
                <a:latin typeface="Cambria" pitchFamily="34" charset="0"/>
                <a:ea typeface="Cambria" pitchFamily="34" charset="-122"/>
                <a:cs typeface="Cambria" pitchFamily="34" charset="-120"/>
              </a:rPr>
              <a:t>Proposition de partenariat</a:t>
            </a:r>
            <a:endParaRPr lang="en-US" sz="3000" dirty="0"/>
          </a:p>
        </p:txBody>
      </p:sp>
      <p:sp>
        <p:nvSpPr>
          <p:cNvPr id="3" name="Text 1"/>
          <p:cNvSpPr txBox="1"/>
          <p:nvPr/>
        </p:nvSpPr>
        <p:spPr>
          <a:xfrm>
            <a:off x="640080" y="1051560"/>
            <a:ext cx="10789920" cy="457200"/>
          </a:xfrm>
          <a:prstGeom prst="rect">
            <a:avLst/>
          </a:prstGeom>
          <a:noFill/>
          <a:ln/>
        </p:spPr>
        <p:txBody>
          <a:bodyPr wrap="square" rtlCol="0" anchor="ctr"/>
          <a:lstStyle/>
          <a:p>
            <a:pPr indent="0" marL="0">
              <a:buNone/>
            </a:pPr>
            <a:r>
              <a:rPr lang="en-US" sz="1300" dirty="0">
                <a:solidFill>
                  <a:srgbClr val="6B7280"/>
                </a:solidFill>
                <a:latin typeface="Calibri" pitchFamily="34" charset="0"/>
                <a:ea typeface="Calibri" pitchFamily="34" charset="-122"/>
                <a:cs typeface="Calibri" pitchFamily="34" charset="-120"/>
              </a:rPr>
              <a:t>Une expression d'intérêt non contraignante, prête à signer aujourd'hui pour lancer la Phase de cadrage.</a:t>
            </a:r>
            <a:endParaRPr lang="en-US" sz="1300" dirty="0"/>
          </a:p>
        </p:txBody>
      </p:sp>
      <p:sp>
        <p:nvSpPr>
          <p:cNvPr id="4" name="Shape 2"/>
          <p:cNvSpPr/>
          <p:nvPr/>
        </p:nvSpPr>
        <p:spPr>
          <a:xfrm>
            <a:off x="640080" y="1737360"/>
            <a:ext cx="5257800" cy="3931920"/>
          </a:xfrm>
          <a:prstGeom prst="roundRect">
            <a:avLst>
              <a:gd name="adj" fmla="val 1860"/>
            </a:avLst>
          </a:prstGeom>
          <a:solidFill>
            <a:srgbClr val="F7F7F6"/>
          </a:solidFill>
          <a:ln/>
        </p:spPr>
      </p:sp>
      <p:sp>
        <p:nvSpPr>
          <p:cNvPr id="5" name="Text 3"/>
          <p:cNvSpPr txBox="1"/>
          <p:nvPr/>
        </p:nvSpPr>
        <p:spPr>
          <a:xfrm>
            <a:off x="960120" y="1965960"/>
            <a:ext cx="4663440" cy="365760"/>
          </a:xfrm>
          <a:prstGeom prst="rect">
            <a:avLst/>
          </a:prstGeom>
          <a:noFill/>
          <a:ln/>
        </p:spPr>
        <p:txBody>
          <a:bodyPr wrap="square" rtlCol="0" anchor="ctr"/>
          <a:lstStyle/>
          <a:p>
            <a:pPr indent="0" marL="0">
              <a:buNone/>
            </a:pPr>
            <a:r>
              <a:rPr lang="en-US" sz="1500" b="1" dirty="0">
                <a:solidFill>
                  <a:srgbClr val="101B3D"/>
                </a:solidFill>
                <a:latin typeface="Calibri" pitchFamily="34" charset="0"/>
                <a:ea typeface="Calibri" pitchFamily="34" charset="-122"/>
                <a:cs typeface="Calibri" pitchFamily="34" charset="-120"/>
              </a:rPr>
              <a:t>FlowDynamicsAgency s'engage à</a:t>
            </a:r>
            <a:endParaRPr lang="en-US" sz="1500" dirty="0"/>
          </a:p>
        </p:txBody>
      </p:sp>
      <p:sp>
        <p:nvSpPr>
          <p:cNvPr id="6" name="Shape 4"/>
          <p:cNvSpPr/>
          <p:nvPr/>
        </p:nvSpPr>
        <p:spPr>
          <a:xfrm>
            <a:off x="960120" y="2468880"/>
            <a:ext cx="365760" cy="365760"/>
          </a:xfrm>
          <a:prstGeom prst="ellipse">
            <a:avLst/>
          </a:prstGeom>
          <a:solidFill>
            <a:srgbClr val="0E6B5C"/>
          </a:solidFill>
          <a:ln/>
        </p:spPr>
      </p:sp>
      <p:pic>
        <p:nvPicPr>
          <p:cNvPr id="7" name="Image 0" descr="/tmp/claude-0/-home-user-senmarket/ad06b58a-6687-5c78-b7b2-a2bff4010c5b/scratchpad/icons/check.png">    </p:cNvPr>
          <p:cNvPicPr>
            <a:picLocks noChangeAspect="1"/>
          </p:cNvPicPr>
          <p:nvPr/>
        </p:nvPicPr>
        <p:blipFill>
          <a:blip r:embed="rId1"/>
          <a:stretch>
            <a:fillRect/>
          </a:stretch>
        </p:blipFill>
        <p:spPr>
          <a:xfrm>
            <a:off x="1055218" y="2563978"/>
            <a:ext cx="175565" cy="175565"/>
          </a:xfrm>
          <a:prstGeom prst="rect">
            <a:avLst/>
          </a:prstGeom>
        </p:spPr>
      </p:pic>
      <p:sp>
        <p:nvSpPr>
          <p:cNvPr id="8" name="Text 5"/>
          <p:cNvSpPr txBox="1"/>
          <p:nvPr/>
        </p:nvSpPr>
        <p:spPr>
          <a:xfrm>
            <a:off x="1463040" y="2414016"/>
            <a:ext cx="4251960" cy="594360"/>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Fournir et configurer la plateforme sous la marque de l'opérateur</a:t>
            </a:r>
            <a:endParaRPr lang="en-US" sz="1250" dirty="0"/>
          </a:p>
        </p:txBody>
      </p:sp>
      <p:sp>
        <p:nvSpPr>
          <p:cNvPr id="9" name="Shape 6"/>
          <p:cNvSpPr/>
          <p:nvPr/>
        </p:nvSpPr>
        <p:spPr>
          <a:xfrm>
            <a:off x="960120" y="3154680"/>
            <a:ext cx="365760" cy="365760"/>
          </a:xfrm>
          <a:prstGeom prst="ellipse">
            <a:avLst/>
          </a:prstGeom>
          <a:solidFill>
            <a:srgbClr val="0E6B5C"/>
          </a:solidFill>
          <a:ln/>
        </p:spPr>
      </p:sp>
      <p:pic>
        <p:nvPicPr>
          <p:cNvPr id="10" name="Image 1" descr="/tmp/claude-0/-home-user-senmarket/ad06b58a-6687-5c78-b7b2-a2bff4010c5b/scratchpad/icons/check.png">    </p:cNvPr>
          <p:cNvPicPr>
            <a:picLocks noChangeAspect="1"/>
          </p:cNvPicPr>
          <p:nvPr/>
        </p:nvPicPr>
        <p:blipFill>
          <a:blip r:embed="rId2"/>
          <a:stretch>
            <a:fillRect/>
          </a:stretch>
        </p:blipFill>
        <p:spPr>
          <a:xfrm>
            <a:off x="1055218" y="3249778"/>
            <a:ext cx="175565" cy="175565"/>
          </a:xfrm>
          <a:prstGeom prst="rect">
            <a:avLst/>
          </a:prstGeom>
        </p:spPr>
      </p:pic>
      <p:sp>
        <p:nvSpPr>
          <p:cNvPr id="11" name="Text 7"/>
          <p:cNvSpPr txBox="1"/>
          <p:nvPr/>
        </p:nvSpPr>
        <p:spPr>
          <a:xfrm>
            <a:off x="1463040" y="3099816"/>
            <a:ext cx="4251960" cy="594360"/>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Assurer la maintenance et le support pendant tout le pilote</a:t>
            </a:r>
            <a:endParaRPr lang="en-US" sz="1250" dirty="0"/>
          </a:p>
        </p:txBody>
      </p:sp>
      <p:sp>
        <p:nvSpPr>
          <p:cNvPr id="12" name="Shape 8"/>
          <p:cNvSpPr/>
          <p:nvPr/>
        </p:nvSpPr>
        <p:spPr>
          <a:xfrm>
            <a:off x="960120" y="3840480"/>
            <a:ext cx="365760" cy="365760"/>
          </a:xfrm>
          <a:prstGeom prst="ellipse">
            <a:avLst/>
          </a:prstGeom>
          <a:solidFill>
            <a:srgbClr val="0E6B5C"/>
          </a:solidFill>
          <a:ln/>
        </p:spPr>
      </p:sp>
      <p:pic>
        <p:nvPicPr>
          <p:cNvPr id="13" name="Image 2" descr="/tmp/claude-0/-home-user-senmarket/ad06b58a-6687-5c78-b7b2-a2bff4010c5b/scratchpad/icons/check.png">    </p:cNvPr>
          <p:cNvPicPr>
            <a:picLocks noChangeAspect="1"/>
          </p:cNvPicPr>
          <p:nvPr/>
        </p:nvPicPr>
        <p:blipFill>
          <a:blip r:embed="rId3"/>
          <a:stretch>
            <a:fillRect/>
          </a:stretch>
        </p:blipFill>
        <p:spPr>
          <a:xfrm>
            <a:off x="1055218" y="3935578"/>
            <a:ext cx="175565" cy="175565"/>
          </a:xfrm>
          <a:prstGeom prst="rect">
            <a:avLst/>
          </a:prstGeom>
        </p:spPr>
      </p:pic>
      <p:sp>
        <p:nvSpPr>
          <p:cNvPr id="14" name="Text 9"/>
          <p:cNvSpPr txBox="1"/>
          <p:nvPr/>
        </p:nvSpPr>
        <p:spPr>
          <a:xfrm>
            <a:off x="1463040" y="3785616"/>
            <a:ext cx="4251960" cy="594360"/>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Former l'équipe et les premiers chauffeurs</a:t>
            </a:r>
            <a:endParaRPr lang="en-US" sz="1250" dirty="0"/>
          </a:p>
        </p:txBody>
      </p:sp>
      <p:sp>
        <p:nvSpPr>
          <p:cNvPr id="15" name="Shape 10"/>
          <p:cNvSpPr/>
          <p:nvPr/>
        </p:nvSpPr>
        <p:spPr>
          <a:xfrm>
            <a:off x="960120" y="4526280"/>
            <a:ext cx="365760" cy="365760"/>
          </a:xfrm>
          <a:prstGeom prst="ellipse">
            <a:avLst/>
          </a:prstGeom>
          <a:solidFill>
            <a:srgbClr val="0E6B5C"/>
          </a:solidFill>
          <a:ln/>
        </p:spPr>
      </p:sp>
      <p:pic>
        <p:nvPicPr>
          <p:cNvPr id="16" name="Image 3" descr="/tmp/claude-0/-home-user-senmarket/ad06b58a-6687-5c78-b7b2-a2bff4010c5b/scratchpad/icons/check.png">    </p:cNvPr>
          <p:cNvPicPr>
            <a:picLocks noChangeAspect="1"/>
          </p:cNvPicPr>
          <p:nvPr/>
        </p:nvPicPr>
        <p:blipFill>
          <a:blip r:embed="rId4"/>
          <a:stretch>
            <a:fillRect/>
          </a:stretch>
        </p:blipFill>
        <p:spPr>
          <a:xfrm>
            <a:off x="1055218" y="4621378"/>
            <a:ext cx="175565" cy="175565"/>
          </a:xfrm>
          <a:prstGeom prst="rect">
            <a:avLst/>
          </a:prstGeom>
        </p:spPr>
      </p:pic>
      <p:sp>
        <p:nvSpPr>
          <p:cNvPr id="17" name="Text 11"/>
          <p:cNvSpPr txBox="1"/>
          <p:nvPr/>
        </p:nvSpPr>
        <p:spPr>
          <a:xfrm>
            <a:off x="1463040" y="4471416"/>
            <a:ext cx="4251960" cy="594360"/>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Restituer un bilan chiffré à la fin du pilote</a:t>
            </a:r>
            <a:endParaRPr lang="en-US" sz="1250" dirty="0"/>
          </a:p>
        </p:txBody>
      </p:sp>
      <p:sp>
        <p:nvSpPr>
          <p:cNvPr id="18" name="Shape 12"/>
          <p:cNvSpPr/>
          <p:nvPr/>
        </p:nvSpPr>
        <p:spPr>
          <a:xfrm>
            <a:off x="6263640" y="1737360"/>
            <a:ext cx="5257800" cy="3931920"/>
          </a:xfrm>
          <a:prstGeom prst="roundRect">
            <a:avLst>
              <a:gd name="adj" fmla="val 1860"/>
            </a:avLst>
          </a:prstGeom>
          <a:solidFill>
            <a:srgbClr val="101B3D"/>
          </a:solidFill>
          <a:ln/>
        </p:spPr>
      </p:sp>
      <p:sp>
        <p:nvSpPr>
          <p:cNvPr id="19" name="Text 13"/>
          <p:cNvSpPr txBox="1"/>
          <p:nvPr/>
        </p:nvSpPr>
        <p:spPr>
          <a:xfrm>
            <a:off x="6583680" y="1965960"/>
            <a:ext cx="4663440" cy="365760"/>
          </a:xfrm>
          <a:prstGeom prst="rect">
            <a:avLst/>
          </a:prstGeom>
          <a:noFill/>
          <a:ln/>
        </p:spPr>
        <p:txBody>
          <a:bodyPr wrap="square" rtlCol="0" anchor="ctr"/>
          <a:lstStyle/>
          <a:p>
            <a:pPr indent="0" marL="0">
              <a:buNone/>
            </a:pPr>
            <a:r>
              <a:rPr lang="en-US" sz="1500" b="1" dirty="0">
                <a:solidFill>
                  <a:srgbClr val="FF7A28"/>
                </a:solidFill>
                <a:latin typeface="Calibri" pitchFamily="34" charset="0"/>
                <a:ea typeface="Calibri" pitchFamily="34" charset="-122"/>
                <a:cs typeface="Calibri" pitchFamily="34" charset="-120"/>
              </a:rPr>
              <a:t>L'opérateur s'engage à</a:t>
            </a:r>
            <a:endParaRPr lang="en-US" sz="1500" dirty="0"/>
          </a:p>
        </p:txBody>
      </p:sp>
      <p:sp>
        <p:nvSpPr>
          <p:cNvPr id="20" name="Shape 14"/>
          <p:cNvSpPr/>
          <p:nvPr/>
        </p:nvSpPr>
        <p:spPr>
          <a:xfrm>
            <a:off x="6583680" y="2468880"/>
            <a:ext cx="365760" cy="365760"/>
          </a:xfrm>
          <a:prstGeom prst="ellipse">
            <a:avLst/>
          </a:prstGeom>
          <a:solidFill>
            <a:srgbClr val="FF7A28"/>
          </a:solidFill>
          <a:ln/>
        </p:spPr>
      </p:sp>
      <p:pic>
        <p:nvPicPr>
          <p:cNvPr id="21" name="Image 4" descr="/tmp/claude-0/-home-user-senmarket/ad06b58a-6687-5c78-b7b2-a2bff4010c5b/scratchpad/icons/check.png">    </p:cNvPr>
          <p:cNvPicPr>
            <a:picLocks noChangeAspect="1"/>
          </p:cNvPicPr>
          <p:nvPr/>
        </p:nvPicPr>
        <p:blipFill>
          <a:blip r:embed="rId5"/>
          <a:stretch>
            <a:fillRect/>
          </a:stretch>
        </p:blipFill>
        <p:spPr>
          <a:xfrm>
            <a:off x="6678778" y="2563978"/>
            <a:ext cx="175565" cy="175565"/>
          </a:xfrm>
          <a:prstGeom prst="rect">
            <a:avLst/>
          </a:prstGeom>
        </p:spPr>
      </p:pic>
      <p:sp>
        <p:nvSpPr>
          <p:cNvPr id="22" name="Text 15"/>
          <p:cNvSpPr txBox="1"/>
          <p:nvPr/>
        </p:nvSpPr>
        <p:spPr>
          <a:xfrm>
            <a:off x="7086600" y="2414016"/>
            <a:ext cx="4251960" cy="5943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Fournir 5 à 10 chauffeurs pilotes pour démarrer</a:t>
            </a:r>
            <a:endParaRPr lang="en-US" sz="1250" dirty="0"/>
          </a:p>
        </p:txBody>
      </p:sp>
      <p:sp>
        <p:nvSpPr>
          <p:cNvPr id="23" name="Shape 16"/>
          <p:cNvSpPr/>
          <p:nvPr/>
        </p:nvSpPr>
        <p:spPr>
          <a:xfrm>
            <a:off x="6583680" y="3154680"/>
            <a:ext cx="365760" cy="365760"/>
          </a:xfrm>
          <a:prstGeom prst="ellipse">
            <a:avLst/>
          </a:prstGeom>
          <a:solidFill>
            <a:srgbClr val="FF7A28"/>
          </a:solidFill>
          <a:ln/>
        </p:spPr>
      </p:sp>
      <p:pic>
        <p:nvPicPr>
          <p:cNvPr id="24" name="Image 5" descr="/tmp/claude-0/-home-user-senmarket/ad06b58a-6687-5c78-b7b2-a2bff4010c5b/scratchpad/icons/check.png">    </p:cNvPr>
          <p:cNvPicPr>
            <a:picLocks noChangeAspect="1"/>
          </p:cNvPicPr>
          <p:nvPr/>
        </p:nvPicPr>
        <p:blipFill>
          <a:blip r:embed="rId6"/>
          <a:stretch>
            <a:fillRect/>
          </a:stretch>
        </p:blipFill>
        <p:spPr>
          <a:xfrm>
            <a:off x="6678778" y="3249778"/>
            <a:ext cx="175565" cy="175565"/>
          </a:xfrm>
          <a:prstGeom prst="rect">
            <a:avLst/>
          </a:prstGeom>
        </p:spPr>
      </p:pic>
      <p:sp>
        <p:nvSpPr>
          <p:cNvPr id="25" name="Text 17"/>
          <p:cNvSpPr txBox="1"/>
          <p:nvPr/>
        </p:nvSpPr>
        <p:spPr>
          <a:xfrm>
            <a:off x="7086600" y="3099816"/>
            <a:ext cx="4251960" cy="5943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Désigner un référent pour la configuration</a:t>
            </a:r>
            <a:endParaRPr lang="en-US" sz="1250" dirty="0"/>
          </a:p>
        </p:txBody>
      </p:sp>
      <p:sp>
        <p:nvSpPr>
          <p:cNvPr id="26" name="Shape 18"/>
          <p:cNvSpPr/>
          <p:nvPr/>
        </p:nvSpPr>
        <p:spPr>
          <a:xfrm>
            <a:off x="6583680" y="3840480"/>
            <a:ext cx="365760" cy="365760"/>
          </a:xfrm>
          <a:prstGeom prst="ellipse">
            <a:avLst/>
          </a:prstGeom>
          <a:solidFill>
            <a:srgbClr val="FF7A28"/>
          </a:solidFill>
          <a:ln/>
        </p:spPr>
      </p:sp>
      <p:pic>
        <p:nvPicPr>
          <p:cNvPr id="27" name="Image 6" descr="/tmp/claude-0/-home-user-senmarket/ad06b58a-6687-5c78-b7b2-a2bff4010c5b/scratchpad/icons/check.png">    </p:cNvPr>
          <p:cNvPicPr>
            <a:picLocks noChangeAspect="1"/>
          </p:cNvPicPr>
          <p:nvPr/>
        </p:nvPicPr>
        <p:blipFill>
          <a:blip r:embed="rId7"/>
          <a:stretch>
            <a:fillRect/>
          </a:stretch>
        </p:blipFill>
        <p:spPr>
          <a:xfrm>
            <a:off x="6678778" y="3935578"/>
            <a:ext cx="175565" cy="175565"/>
          </a:xfrm>
          <a:prstGeom prst="rect">
            <a:avLst/>
          </a:prstGeom>
        </p:spPr>
      </p:pic>
      <p:sp>
        <p:nvSpPr>
          <p:cNvPr id="28" name="Text 19"/>
          <p:cNvSpPr txBox="1"/>
          <p:nvPr/>
        </p:nvSpPr>
        <p:spPr>
          <a:xfrm>
            <a:off x="7086600" y="3785616"/>
            <a:ext cx="4251960" cy="5943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Communiquer sa grille tarifaire de zones</a:t>
            </a:r>
            <a:endParaRPr lang="en-US" sz="1250" dirty="0"/>
          </a:p>
        </p:txBody>
      </p:sp>
      <p:sp>
        <p:nvSpPr>
          <p:cNvPr id="29" name="Shape 20"/>
          <p:cNvSpPr/>
          <p:nvPr/>
        </p:nvSpPr>
        <p:spPr>
          <a:xfrm>
            <a:off x="6583680" y="4526280"/>
            <a:ext cx="365760" cy="365760"/>
          </a:xfrm>
          <a:prstGeom prst="ellipse">
            <a:avLst/>
          </a:prstGeom>
          <a:solidFill>
            <a:srgbClr val="FF7A28"/>
          </a:solidFill>
          <a:ln/>
        </p:spPr>
      </p:sp>
      <p:pic>
        <p:nvPicPr>
          <p:cNvPr id="30" name="Image 7" descr="/tmp/claude-0/-home-user-senmarket/ad06b58a-6687-5c78-b7b2-a2bff4010c5b/scratchpad/icons/check.png">    </p:cNvPr>
          <p:cNvPicPr>
            <a:picLocks noChangeAspect="1"/>
          </p:cNvPicPr>
          <p:nvPr/>
        </p:nvPicPr>
        <p:blipFill>
          <a:blip r:embed="rId8"/>
          <a:stretch>
            <a:fillRect/>
          </a:stretch>
        </p:blipFill>
        <p:spPr>
          <a:xfrm>
            <a:off x="6678778" y="4621378"/>
            <a:ext cx="175565" cy="175565"/>
          </a:xfrm>
          <a:prstGeom prst="rect">
            <a:avLst/>
          </a:prstGeom>
        </p:spPr>
      </p:pic>
      <p:sp>
        <p:nvSpPr>
          <p:cNvPr id="31" name="Text 21"/>
          <p:cNvSpPr txBox="1"/>
          <p:nvPr/>
        </p:nvSpPr>
        <p:spPr>
          <a:xfrm>
            <a:off x="7086600" y="4471416"/>
            <a:ext cx="4251960" cy="5943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Faire remonter les retours du lancement fermé</a:t>
            </a:r>
            <a:endParaRPr lang="en-US" sz="1250" dirty="0"/>
          </a:p>
        </p:txBody>
      </p:sp>
      <p:sp>
        <p:nvSpPr>
          <p:cNvPr id="32" name="Text 22"/>
          <p:cNvSpPr/>
          <p:nvPr/>
        </p:nvSpPr>
        <p:spPr>
          <a:xfrm>
            <a:off x="457200" y="6446520"/>
            <a:ext cx="54864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Mobility OS Maroc</a:t>
            </a:r>
            <a:endParaRPr lang="en-US" sz="900" dirty="0"/>
          </a:p>
        </p:txBody>
      </p:sp>
      <p:sp>
        <p:nvSpPr>
          <p:cNvPr id="33" name="Text 23"/>
          <p:cNvSpPr/>
          <p:nvPr/>
        </p:nvSpPr>
        <p:spPr>
          <a:xfrm>
            <a:off x="8074152" y="6446520"/>
            <a:ext cx="36576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07 — Partenariat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B3D"/>
        </a:solidFill>
      </p:bgPr>
    </p:bg>
    <p:spTree>
      <p:nvGrpSpPr>
        <p:cNvPr id="1" name=""/>
        <p:cNvGrpSpPr/>
        <p:nvPr/>
      </p:nvGrpSpPr>
      <p:grpSpPr>
        <a:xfrm>
          <a:off x="0" y="0"/>
          <a:ext cx="0" cy="0"/>
          <a:chOff x="0" y="0"/>
          <a:chExt cx="0" cy="0"/>
        </a:xfrm>
      </p:grpSpPr>
      <p:sp>
        <p:nvSpPr>
          <p:cNvPr id="2" name="Text 0"/>
          <p:cNvSpPr txBox="1"/>
          <p:nvPr/>
        </p:nvSpPr>
        <p:spPr>
          <a:xfrm>
            <a:off x="822960" y="822960"/>
            <a:ext cx="9144000" cy="73152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Prochaines étapes</a:t>
            </a:r>
            <a:endParaRPr lang="en-US" sz="3800" dirty="0"/>
          </a:p>
        </p:txBody>
      </p:sp>
      <p:sp>
        <p:nvSpPr>
          <p:cNvPr id="3" name="Shape 1"/>
          <p:cNvSpPr/>
          <p:nvPr/>
        </p:nvSpPr>
        <p:spPr>
          <a:xfrm>
            <a:off x="822960" y="2103120"/>
            <a:ext cx="502920" cy="502920"/>
          </a:xfrm>
          <a:prstGeom prst="ellipse">
            <a:avLst/>
          </a:prstGeom>
          <a:solidFill>
            <a:srgbClr val="FF7A28"/>
          </a:solidFill>
          <a:ln/>
        </p:spPr>
      </p:sp>
      <p:sp>
        <p:nvSpPr>
          <p:cNvPr id="4" name="Text 2"/>
          <p:cNvSpPr txBox="1"/>
          <p:nvPr/>
        </p:nvSpPr>
        <p:spPr>
          <a:xfrm>
            <a:off x="822960" y="2103120"/>
            <a:ext cx="502920" cy="502920"/>
          </a:xfrm>
          <a:prstGeom prst="rect">
            <a:avLst/>
          </a:prstGeom>
          <a:noFill/>
          <a:ln/>
        </p:spPr>
        <p:txBody>
          <a:bodyPr wrap="square" rtlCol="0" anchor="ctr"/>
          <a:lstStyle/>
          <a:p>
            <a:pPr algn="ctr" indent="0" marL="0">
              <a:buNone/>
            </a:pPr>
            <a:r>
              <a:rPr lang="en-US" sz="1800" b="1" dirty="0">
                <a:solidFill>
                  <a:srgbClr val="101B3D"/>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508760" y="2121408"/>
            <a:ext cx="8686800" cy="50292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Signer l'expression d'intérêt</a:t>
            </a:r>
            <a:endParaRPr lang="en-US" sz="1800" dirty="0"/>
          </a:p>
        </p:txBody>
      </p:sp>
      <p:sp>
        <p:nvSpPr>
          <p:cNvPr id="6" name="Shape 4"/>
          <p:cNvSpPr/>
          <p:nvPr/>
        </p:nvSpPr>
        <p:spPr>
          <a:xfrm>
            <a:off x="822960" y="2971800"/>
            <a:ext cx="502920" cy="502920"/>
          </a:xfrm>
          <a:prstGeom prst="ellipse">
            <a:avLst/>
          </a:prstGeom>
          <a:solidFill>
            <a:srgbClr val="FF7A28"/>
          </a:solidFill>
          <a:ln/>
        </p:spPr>
      </p:sp>
      <p:sp>
        <p:nvSpPr>
          <p:cNvPr id="7" name="Text 5"/>
          <p:cNvSpPr txBox="1"/>
          <p:nvPr/>
        </p:nvSpPr>
        <p:spPr>
          <a:xfrm>
            <a:off x="822960" y="2971800"/>
            <a:ext cx="502920" cy="502920"/>
          </a:xfrm>
          <a:prstGeom prst="rect">
            <a:avLst/>
          </a:prstGeom>
          <a:noFill/>
          <a:ln/>
        </p:spPr>
        <p:txBody>
          <a:bodyPr wrap="square" rtlCol="0" anchor="ctr"/>
          <a:lstStyle/>
          <a:p>
            <a:pPr algn="ctr" indent="0" marL="0">
              <a:buNone/>
            </a:pPr>
            <a:r>
              <a:rPr lang="en-US" sz="1800" b="1" dirty="0">
                <a:solidFill>
                  <a:srgbClr val="101B3D"/>
                </a:solidFill>
                <a:latin typeface="Calibri" pitchFamily="34" charset="0"/>
                <a:ea typeface="Calibri" pitchFamily="34" charset="-122"/>
                <a:cs typeface="Calibri" pitchFamily="34" charset="-120"/>
              </a:rPr>
              <a:t>2</a:t>
            </a:r>
            <a:endParaRPr lang="en-US" sz="1800" dirty="0"/>
          </a:p>
        </p:txBody>
      </p:sp>
      <p:sp>
        <p:nvSpPr>
          <p:cNvPr id="8" name="Text 6"/>
          <p:cNvSpPr txBox="1"/>
          <p:nvPr/>
        </p:nvSpPr>
        <p:spPr>
          <a:xfrm>
            <a:off x="1508760" y="2990088"/>
            <a:ext cx="8686800" cy="50292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Choisir la ville et la zone du pilote</a:t>
            </a:r>
            <a:endParaRPr lang="en-US" sz="1800" dirty="0"/>
          </a:p>
        </p:txBody>
      </p:sp>
      <p:sp>
        <p:nvSpPr>
          <p:cNvPr id="9" name="Shape 7"/>
          <p:cNvSpPr/>
          <p:nvPr/>
        </p:nvSpPr>
        <p:spPr>
          <a:xfrm>
            <a:off x="822960" y="3840480"/>
            <a:ext cx="502920" cy="502920"/>
          </a:xfrm>
          <a:prstGeom prst="ellipse">
            <a:avLst/>
          </a:prstGeom>
          <a:solidFill>
            <a:srgbClr val="FF7A28"/>
          </a:solidFill>
          <a:ln/>
        </p:spPr>
      </p:sp>
      <p:sp>
        <p:nvSpPr>
          <p:cNvPr id="10" name="Text 8"/>
          <p:cNvSpPr txBox="1"/>
          <p:nvPr/>
        </p:nvSpPr>
        <p:spPr>
          <a:xfrm>
            <a:off x="822960" y="3840480"/>
            <a:ext cx="502920" cy="502920"/>
          </a:xfrm>
          <a:prstGeom prst="rect">
            <a:avLst/>
          </a:prstGeom>
          <a:noFill/>
          <a:ln/>
        </p:spPr>
        <p:txBody>
          <a:bodyPr wrap="square" rtlCol="0" anchor="ctr"/>
          <a:lstStyle/>
          <a:p>
            <a:pPr algn="ctr" indent="0" marL="0">
              <a:buNone/>
            </a:pPr>
            <a:r>
              <a:rPr lang="en-US" sz="1800" b="1" dirty="0">
                <a:solidFill>
                  <a:srgbClr val="101B3D"/>
                </a:solidFill>
                <a:latin typeface="Calibri" pitchFamily="34" charset="0"/>
                <a:ea typeface="Calibri" pitchFamily="34" charset="-122"/>
                <a:cs typeface="Calibri" pitchFamily="34" charset="-120"/>
              </a:rPr>
              <a:t>3</a:t>
            </a:r>
            <a:endParaRPr lang="en-US" sz="1800" dirty="0"/>
          </a:p>
        </p:txBody>
      </p:sp>
      <p:sp>
        <p:nvSpPr>
          <p:cNvPr id="11" name="Text 9"/>
          <p:cNvSpPr txBox="1"/>
          <p:nvPr/>
        </p:nvSpPr>
        <p:spPr>
          <a:xfrm>
            <a:off x="1508760" y="3858768"/>
            <a:ext cx="8686800" cy="502920"/>
          </a:xfrm>
          <a:prstGeom prst="rect">
            <a:avLst/>
          </a:prstGeom>
          <a:noFill/>
          <a:ln/>
        </p:spPr>
        <p:txBody>
          <a:bodyPr wrap="square"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Démarrer le cadrage (Phase 0) cette semaine</a:t>
            </a:r>
            <a:endParaRPr lang="en-US" sz="1800" dirty="0"/>
          </a:p>
        </p:txBody>
      </p:sp>
      <p:sp>
        <p:nvSpPr>
          <p:cNvPr id="12" name="Text 10"/>
          <p:cNvSpPr txBox="1"/>
          <p:nvPr/>
        </p:nvSpPr>
        <p:spPr>
          <a:xfrm>
            <a:off x="822960" y="5212080"/>
            <a:ext cx="5486400" cy="640080"/>
          </a:xfrm>
          <a:prstGeom prst="rect">
            <a:avLst/>
          </a:prstGeom>
          <a:noFill/>
          <a:ln/>
        </p:spPr>
        <p:txBody>
          <a:bodyPr wrap="square" rtlCol="0" anchor="ctr"/>
          <a:lstStyle/>
          <a:p>
            <a:pPr indent="0" marL="0">
              <a:buNone/>
            </a:pPr>
            <a:r>
              <a:rPr lang="en-US" sz="2600" b="1" dirty="0">
                <a:solidFill>
                  <a:srgbClr val="FF7A28"/>
                </a:solidFill>
                <a:latin typeface="Cambria" pitchFamily="34" charset="0"/>
                <a:ea typeface="Cambria" pitchFamily="34" charset="-122"/>
                <a:cs typeface="Cambria" pitchFamily="34" charset="-120"/>
              </a:rPr>
              <a:t>Merci.</a:t>
            </a:r>
            <a:endParaRPr lang="en-US" sz="2600" dirty="0"/>
          </a:p>
        </p:txBody>
      </p:sp>
      <p:sp>
        <p:nvSpPr>
          <p:cNvPr id="13" name="Text 11"/>
          <p:cNvSpPr txBox="1"/>
          <p:nvPr/>
        </p:nvSpPr>
        <p:spPr>
          <a:xfrm>
            <a:off x="822960" y="5943600"/>
            <a:ext cx="7315200" cy="365760"/>
          </a:xfrm>
          <a:prstGeom prst="rect">
            <a:avLst/>
          </a:prstGeom>
          <a:noFill/>
          <a:ln/>
        </p:spPr>
        <p:txBody>
          <a:bodyPr wrap="square" rtlCol="0" anchor="ctr"/>
          <a:lstStyle/>
          <a:p>
            <a:pPr indent="0" marL="0">
              <a:buNone/>
            </a:pPr>
            <a:r>
              <a:rPr lang="en-US" sz="1200" dirty="0">
                <a:solidFill>
                  <a:srgbClr val="B9C0D6"/>
                </a:solidFill>
                <a:latin typeface="Calibri" pitchFamily="34" charset="0"/>
                <a:ea typeface="Calibri" pitchFamily="34" charset="-122"/>
                <a:cs typeface="Calibri" pitchFamily="34" charset="-120"/>
              </a:rPr>
              <a:t>FlowDynamicsAgency — Mobility OS Maroc</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2026-09-01T00:18:17Z</dcterms:created>
  <dcterms:modified xsi:type="dcterms:W3CDTF">2026-09-01T00:18:17Z</dcterms:modified>
</cp:coreProperties>
</file>