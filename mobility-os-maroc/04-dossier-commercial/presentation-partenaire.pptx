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 (DH)</c:v>
                </c:pt>
              </c:strCache>
            </c:strRef>
          </c:tx>
          <c:spPr>
            <a:solidFill>
              <a:srgbClr val="FF7A2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Mois 1</c:v>
                  </c:pt>
                  <c:pt idx="1">
                    <c:v>Mois 2</c:v>
                  </c:pt>
                  <c:pt idx="2">
                    <c:v>Mois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22900</c:v>
                </c:pt>
                <c:pt idx="1">
                  <c:v>12000</c:v>
                </c:pt>
                <c:pt idx="2">
                  <c:v>16000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DDDD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1.png"/><Relationship Id="rId3" Type="http://schemas.openxmlformats.org/officeDocument/2006/relationships/image" Target="../media/image-10-1.png"/><Relationship Id="rId4" Type="http://schemas.openxmlformats.org/officeDocument/2006/relationships/image" Target="../media/image-10-1.png"/><Relationship Id="rId5" Type="http://schemas.openxmlformats.org/officeDocument/2006/relationships/image" Target="../media/image-10-1.png"/><Relationship Id="rId6" Type="http://schemas.openxmlformats.org/officeDocument/2006/relationships/image" Target="../media/image-10-1.png"/><Relationship Id="rId7" Type="http://schemas.openxmlformats.org/officeDocument/2006/relationships/image" Target="../media/image-10-1.png"/><Relationship Id="rId8" Type="http://schemas.openxmlformats.org/officeDocument/2006/relationships/image" Target="../media/image-10-1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640080" cy="640080"/>
          </a:xfrm>
          <a:prstGeom prst="roundRect">
            <a:avLst>
              <a:gd name="adj" fmla="val 21429"/>
            </a:avLst>
          </a:prstGeom>
          <a:solidFill>
            <a:srgbClr val="FF7A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48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0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MOBILITY OS MAROC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42900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de mobilité multi-services en marque blanche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943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partenaire  ·  Casablanca  ·  Septembre 2026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2636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projet FlowDynamicsAgency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problème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opérateurs de transport marocains n'ont pas d'outil digital à la hauteur des standards du marché.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777240" cy="777240"/>
          </a:xfrm>
          <a:prstGeom prst="ellipse">
            <a:avLst/>
          </a:prstGeom>
          <a:solidFill>
            <a:srgbClr val="101B3D"/>
          </a:solidFill>
          <a:ln/>
        </p:spPr>
      </p:sp>
      <p:pic>
        <p:nvPicPr>
          <p:cNvPr id="5" name="Image 0" descr="/tmp/claude-0/-home-user-senmarket/ad06b58a-6687-5c78-b7b2-a2bff4010c5b/scratchpad/icons/problem_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2162" y="2168042"/>
            <a:ext cx="373075" cy="37307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94767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d'application propre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691640" y="2313432"/>
            <a:ext cx="9326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opérateur gère ses courses par téléphone ou par talkie-walkie, sans app pour ses clients ni ses chauffeurs.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3383280"/>
            <a:ext cx="777240" cy="777240"/>
          </a:xfrm>
          <a:prstGeom prst="ellipse">
            <a:avLst/>
          </a:prstGeom>
          <a:solidFill>
            <a:srgbClr val="101B3D"/>
          </a:solidFill>
          <a:ln/>
        </p:spPr>
      </p:sp>
      <p:pic>
        <p:nvPicPr>
          <p:cNvPr id="9" name="Image 1" descr="/tmp/claude-0/-home-user-senmarket/ad06b58a-6687-5c78-b7b2-a2bff4010c5b/scratchpad/icons/problem_co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162" y="3585362"/>
            <a:ext cx="373075" cy="37307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336499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partage de valeur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1691640" y="3730752"/>
            <a:ext cx="9326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plateformes internationales existantes ne sont pas configurables par un opérateur local et ne partagent pas de revenu de licence avec lui.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4800600"/>
            <a:ext cx="777240" cy="777240"/>
          </a:xfrm>
          <a:prstGeom prst="ellipse">
            <a:avLst/>
          </a:prstGeom>
          <a:solidFill>
            <a:srgbClr val="101B3D"/>
          </a:solidFill>
          <a:ln/>
        </p:spPr>
      </p:sp>
      <p:pic>
        <p:nvPicPr>
          <p:cNvPr id="13" name="Image 2" descr="/tmp/claude-0/-home-user-senmarket/ad06b58a-6687-5c78-b7b2-a2bff4010c5b/scratchpad/icons/problem_tea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" y="5002682"/>
            <a:ext cx="373075" cy="37307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91640" y="478231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d'équipe technique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1691640" y="5148072"/>
            <a:ext cx="9326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Développer et maintenir une app comparable aux standards du marché est hors de portée d'un opérateur régional seul.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OS Maroc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Le problème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concept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52120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plateforme technique.
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Autant de marques que d'opérateurs.
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FlowDynamicsAgency construit et maintient la technologie — apps Passager, Chauffeur, dashboard de gestion. Chaque opérateur de transport la déploie sous sa propre marque, auprès de ses propres chauffeurs et clients.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92240" y="1463040"/>
            <a:ext cx="4937760" cy="914400"/>
          </a:xfrm>
          <a:prstGeom prst="roundRect">
            <a:avLst>
              <a:gd name="adj" fmla="val 10000"/>
            </a:avLst>
          </a:prstGeom>
          <a:solidFill>
            <a:srgbClr val="101B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92240" y="146304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Mobility OS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92240" y="301752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0E6B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92240" y="3017520"/>
            <a:ext cx="1600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Opérateur pilote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(partenaire)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292340" y="2377440"/>
            <a:ext cx="0" cy="640080"/>
          </a:xfrm>
          <a:prstGeom prst="line">
            <a:avLst/>
          </a:prstGeom>
          <a:noFill/>
          <a:ln w="19050">
            <a:solidFill>
              <a:srgbClr val="C7CCD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75320" y="301752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B7BDC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75320" y="3017520"/>
            <a:ext cx="1600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Opérateur 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(à venir)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75420" y="2377440"/>
            <a:ext cx="0" cy="640080"/>
          </a:xfrm>
          <a:prstGeom prst="line">
            <a:avLst/>
          </a:prstGeom>
          <a:noFill/>
          <a:ln w="19050">
            <a:solidFill>
              <a:srgbClr val="C7CC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301752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B7BDC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058400" y="3017520"/>
            <a:ext cx="1600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Opérateur 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(à venir)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858500" y="2377440"/>
            <a:ext cx="0" cy="640080"/>
          </a:xfrm>
          <a:prstGeom prst="line">
            <a:avLst/>
          </a:prstGeom>
          <a:noFill/>
          <a:ln w="19050">
            <a:solidFill>
              <a:srgbClr val="C7CC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92240" y="429768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Onboarder un nouvel opérateur = une opération de configuration, pas un nouveau développement.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OS Maroc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Le concept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produit qui existe déjà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n'est pas une idée sur slide : les trois expériences ci-dessous sont cliquables aujourd'hui.</a:t>
            </a:r>
            <a:endParaRPr lang="en-US" sz="1400" dirty="0"/>
          </a:p>
        </p:txBody>
      </p:sp>
      <p:pic>
        <p:nvPicPr>
          <p:cNvPr id="4" name="Image 0" descr="/tmp/deck/passager_confirmation_plat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691640"/>
            <a:ext cx="1874520" cy="3888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569000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Passager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 une course</a:t>
            </a:r>
            <a:endParaRPr lang="en-US" sz="1150" dirty="0"/>
          </a:p>
        </p:txBody>
      </p:sp>
      <p:pic>
        <p:nvPicPr>
          <p:cNvPr id="6" name="Image 1" descr="/tmp/deck/chauffeur_deman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691640"/>
            <a:ext cx="1874520" cy="38886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108960" y="569000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Chauffeur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accepter une course</a:t>
            </a:r>
            <a:endParaRPr lang="en-US" sz="1150" dirty="0"/>
          </a:p>
        </p:txBody>
      </p:sp>
      <p:pic>
        <p:nvPicPr>
          <p:cNvPr id="8" name="Image 2" descr="/tmp/deck/dashboard_aperc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691640"/>
            <a:ext cx="5669280" cy="3986213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852160" y="1691640"/>
            <a:ext cx="5669280" cy="3986213"/>
          </a:xfrm>
          <a:prstGeom prst="rect">
            <a:avLst/>
          </a:prstGeom>
          <a:ln w="12700">
            <a:solidFill>
              <a:srgbClr val="E2E2E2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852160" y="5805868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Opérateur — vue d'ensemble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OS Maroc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Démonstration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Même produit. Marques différentes.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Changer la marque dans le dashboard Opérateur rethématise instantanément les deux apps — sans une ligne de code.</a:t>
            </a:r>
            <a:endParaRPr lang="en-US" sz="1400" dirty="0"/>
          </a:p>
        </p:txBody>
      </p:sp>
      <p:pic>
        <p:nvPicPr>
          <p:cNvPr id="4" name="Image 0" descr="/tmp/deck/passager_accueil_plat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0" y="1783080"/>
            <a:ext cx="1828800" cy="379378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920240" y="5686595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Identité "Mobility OS" (par défaut)</a:t>
            </a:r>
            <a:endParaRPr lang="en-US" sz="1300" dirty="0"/>
          </a:p>
        </p:txBody>
      </p:sp>
      <p:pic>
        <p:nvPicPr>
          <p:cNvPr id="6" name="Image 1" descr="/tmp/deck/passager_accueil_transatla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1783080"/>
            <a:ext cx="1828800" cy="379378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498080" y="5686595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Identité opérateur pilote "TransAtlas"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257800" y="345137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F7A28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5257800" y="3451374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OS Maroc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Démonstration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Modèle commercial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leviers, alignés sur la réussite de l'opérateur.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29000" cy="3749040"/>
          </a:xfrm>
          <a:prstGeom prst="roundRect">
            <a:avLst>
              <a:gd name="adj" fmla="val 2133"/>
            </a:avLst>
          </a:prstGeom>
          <a:solidFill>
            <a:srgbClr val="F7F7F6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011680"/>
            <a:ext cx="731520" cy="731520"/>
          </a:xfrm>
          <a:prstGeom prst="ellipse">
            <a:avLst/>
          </a:prstGeom>
          <a:solidFill>
            <a:srgbClr val="101B3D"/>
          </a:solidFill>
          <a:ln/>
        </p:spPr>
      </p:sp>
      <p:pic>
        <p:nvPicPr>
          <p:cNvPr id="6" name="Image 0" descr="/tmp/claude-0/-home-user-senmarket/ad06b58a-6687-5c78-b7b2-a2bff4010c5b/scratchpad/icons/fee_to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0315" y="2201875"/>
            <a:ext cx="351130" cy="3511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60120" y="288036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service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24612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7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15 000 DH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767328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41148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de la marque, des zones et des tarifs, formation des équipes.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89120" y="1691640"/>
            <a:ext cx="3429000" cy="3749040"/>
          </a:xfrm>
          <a:prstGeom prst="roundRect">
            <a:avLst>
              <a:gd name="adj" fmla="val 2133"/>
            </a:avLst>
          </a:prstGeom>
          <a:solidFill>
            <a:srgbClr val="F7F7F6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2011680"/>
            <a:ext cx="731520" cy="731520"/>
          </a:xfrm>
          <a:prstGeom prst="ellipse">
            <a:avLst/>
          </a:prstGeom>
          <a:solidFill>
            <a:srgbClr val="101B3D"/>
          </a:solidFill>
          <a:ln/>
        </p:spPr>
      </p:sp>
      <p:pic>
        <p:nvPicPr>
          <p:cNvPr id="13" name="Image 1" descr="/tmp/claude-0/-home-user-senmarket/ad06b58a-6687-5c78-b7b2-a2bff4010c5b/scratchpad/icons/fee_calend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9355" y="2201875"/>
            <a:ext cx="351130" cy="35113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709160" y="288036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Abonnement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709160" y="324612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7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2 500 DH</a:t>
            </a:r>
            <a:endParaRPr lang="en-US" sz="2600" dirty="0"/>
          </a:p>
        </p:txBody>
      </p:sp>
      <p:sp>
        <p:nvSpPr>
          <p:cNvPr id="16" name="Text 12"/>
          <p:cNvSpPr txBox="1"/>
          <p:nvPr/>
        </p:nvSpPr>
        <p:spPr>
          <a:xfrm>
            <a:off x="4709160" y="3767328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mois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4709160" y="41148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Jusqu'à 30 chauffeurs actifs sur une ville — hébergement, maintenance, support.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138160" y="1691640"/>
            <a:ext cx="3429000" cy="3749040"/>
          </a:xfrm>
          <a:prstGeom prst="roundRect">
            <a:avLst>
              <a:gd name="adj" fmla="val 2133"/>
            </a:avLst>
          </a:prstGeom>
          <a:solidFill>
            <a:srgbClr val="F7F7F6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458200" y="2011680"/>
            <a:ext cx="731520" cy="731520"/>
          </a:xfrm>
          <a:prstGeom prst="ellipse">
            <a:avLst/>
          </a:prstGeom>
          <a:solidFill>
            <a:srgbClr val="101B3D"/>
          </a:solidFill>
          <a:ln/>
        </p:spPr>
      </p:sp>
      <p:pic>
        <p:nvPicPr>
          <p:cNvPr id="20" name="Image 2" descr="/tmp/claude-0/-home-user-senmarket/ad06b58a-6687-5c78-b7b2-a2bff4010c5b/scratchpad/icons/fee_perc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8395" y="2201875"/>
            <a:ext cx="351130" cy="35113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458200" y="288036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8458200" y="324612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7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5 %</a:t>
            </a:r>
            <a:endParaRPr lang="en-US" sz="2600" dirty="0"/>
          </a:p>
        </p:txBody>
      </p:sp>
      <p:sp>
        <p:nvSpPr>
          <p:cNvPr id="23" name="Text 18"/>
          <p:cNvSpPr txBox="1"/>
          <p:nvPr/>
        </p:nvSpPr>
        <p:spPr>
          <a:xfrm>
            <a:off x="8458200" y="3767328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course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8458200" y="41148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Prélevée sur le montant de chaque course — l'agence gagne quand l'opérateur gagne.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OS Maroc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Modèle commercial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Chiffrage indicatif du pilote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Hypothèses de travail (volume et prix moyen), à ajuster ensemble — pas une offre figée.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108 000 DH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8483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mois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4086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chauffeurs · 120 courses/j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60020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190 000 DH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08483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mois 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234086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montée en charge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160020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270 000 DH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208483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mois 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234086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chauffeurs · 300 courses/j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8803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 FlowDynamicsAgency par mois (setup fee + abonnement + commission)</a:t>
            </a:r>
            <a:endParaRPr lang="en-US" sz="13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640080" y="3246120"/>
          <a:ext cx="731520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Shape 12"/>
          <p:cNvSpPr/>
          <p:nvPr/>
        </p:nvSpPr>
        <p:spPr>
          <a:xfrm>
            <a:off x="8229600" y="3246120"/>
            <a:ext cx="3291840" cy="3063240"/>
          </a:xfrm>
          <a:prstGeom prst="roundRect">
            <a:avLst>
              <a:gd name="adj" fmla="val 2388"/>
            </a:avLst>
          </a:prstGeom>
          <a:solidFill>
            <a:srgbClr val="101B3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45820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7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50 900 DH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8458200" y="406908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 cumulé estimé sur les 3 mois du pilote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458200" y="493776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7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mois 3, l'opérateur reverse environ 6 % de son chiffre d'affaires courses — et garde tout le reste.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OS Maroc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Modèle commercial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Stratégie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rend le modèle scalable au-delà du premier pilote.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777240" cy="777240"/>
          </a:xfrm>
          <a:prstGeom prst="ellipse">
            <a:avLst/>
          </a:prstGeom>
          <a:solidFill>
            <a:srgbClr val="0E6B5C"/>
          </a:solidFill>
          <a:ln/>
        </p:spPr>
      </p:sp>
      <p:pic>
        <p:nvPicPr>
          <p:cNvPr id="5" name="Image 0" descr="/tmp/claude-0/-home-user-senmarket/ad06b58a-6687-5c78-b7b2-a2bff4010c5b/scratchpad/icons/strat_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2162" y="2168042"/>
            <a:ext cx="373075" cy="37307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94767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moteur technique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691640" y="2313432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backend, même moteur de dispatch, mêmes apps "template" pour tous les opérateurs — pas un projet par opérateur.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3383280"/>
            <a:ext cx="777240" cy="777240"/>
          </a:xfrm>
          <a:prstGeom prst="ellipse">
            <a:avLst/>
          </a:prstGeom>
          <a:solidFill>
            <a:srgbClr val="0E6B5C"/>
          </a:solidFill>
          <a:ln/>
        </p:spPr>
      </p:sp>
      <p:pic>
        <p:nvPicPr>
          <p:cNvPr id="9" name="Image 1" descr="/tmp/claude-0/-home-user-senmarket/ad06b58a-6687-5c78-b7b2-a2bff4010c5b/scratchpad/icons/strat_slid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162" y="3585362"/>
            <a:ext cx="373075" cy="37307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336499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= configuration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1691640" y="3730752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Marque, zones, tarifs, chauffeurs : brancher un nouvel opérateur est une opération de paramétrage, pas un nouveau développement.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4800600"/>
            <a:ext cx="777240" cy="777240"/>
          </a:xfrm>
          <a:prstGeom prst="ellipse">
            <a:avLst/>
          </a:prstGeom>
          <a:solidFill>
            <a:srgbClr val="0E6B5C"/>
          </a:solidFill>
          <a:ln/>
        </p:spPr>
      </p:sp>
      <p:pic>
        <p:nvPicPr>
          <p:cNvPr id="13" name="Image 2" descr="/tmp/claude-0/-home-user-senmarket/ad06b58a-6687-5c78-b7b2-a2bff4010c5b/scratchpad/icons/strat_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" y="5002682"/>
            <a:ext cx="373075" cy="37307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91640" y="478231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stricte par opérateur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1691640" y="5148072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opérateur ne voit et ne dispatche que ses propres chauffeurs et courses — jamais partagés avec un opérateur voisin.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OS Maroc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Stratégie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déploiement du pilote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2331720"/>
            <a:ext cx="8961120" cy="0"/>
          </a:xfrm>
          <a:prstGeom prst="line">
            <a:avLst/>
          </a:prstGeom>
          <a:noFill/>
          <a:ln w="25400">
            <a:solidFill>
              <a:srgbClr val="D8DBE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07592" y="2039112"/>
            <a:ext cx="585216" cy="585216"/>
          </a:xfrm>
          <a:prstGeom prst="ellipse">
            <a:avLst/>
          </a:prstGeom>
          <a:solidFill>
            <a:srgbClr val="101B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07592" y="2039112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8892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Cadrage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10896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1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429000"/>
            <a:ext cx="1920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EOI signée, ville et zone choisies, tarifs et premiers chauffeurs listés.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547872" y="2039112"/>
            <a:ext cx="585216" cy="585216"/>
          </a:xfrm>
          <a:prstGeom prst="ellipse">
            <a:avLst/>
          </a:prstGeom>
          <a:solidFill>
            <a:srgbClr val="101B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47872" y="2039112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2880360" y="278892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880360" y="310896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 semaines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3429000"/>
            <a:ext cx="1920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réelle branchée sur les maquettes existantes.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88152" y="2039112"/>
            <a:ext cx="585216" cy="585216"/>
          </a:xfrm>
          <a:prstGeom prst="ellipse">
            <a:avLst/>
          </a:prstGeom>
          <a:solidFill>
            <a:srgbClr val="101B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788152" y="2039112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278892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Lancement fermé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310896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 semaines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120640" y="3429000"/>
            <a:ext cx="1920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à 10 chauffeurs, cercle restreint de passagers de test.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28432" y="2039112"/>
            <a:ext cx="585216" cy="585216"/>
          </a:xfrm>
          <a:prstGeom prst="ellipse">
            <a:avLst/>
          </a:prstGeom>
          <a:solidFill>
            <a:srgbClr val="101B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28432" y="2039112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7360920" y="278892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Lancement public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360920" y="310896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 semaines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360920" y="3429000"/>
            <a:ext cx="1920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Ouverture au public, montée en charge de la flotte.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0268712" y="2039112"/>
            <a:ext cx="585216" cy="585216"/>
          </a:xfrm>
          <a:prstGeom prst="ellipse">
            <a:avLst/>
          </a:prstGeom>
          <a:solidFill>
            <a:srgbClr val="FF7A2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268712" y="2039112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9601200" y="278892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601200" y="310896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du pilote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9601200" y="3429000"/>
            <a:ext cx="1920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Revue des métriques, décision de passage à l'échelle.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OS Maroc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Pilote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Proposition de partenariat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expression d'intérêt non contraignante, prête à signer aujourd'hui pour lancer la Phase de cadrage.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57800" cy="3931920"/>
          </a:xfrm>
          <a:prstGeom prst="roundRect">
            <a:avLst>
              <a:gd name="adj" fmla="val 1860"/>
            </a:avLst>
          </a:prstGeom>
          <a:solidFill>
            <a:srgbClr val="F7F7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96596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FlowDynamicsAgency s'engage à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60120" y="2468880"/>
            <a:ext cx="365760" cy="365760"/>
          </a:xfrm>
          <a:prstGeom prst="ellipse">
            <a:avLst/>
          </a:prstGeom>
          <a:solidFill>
            <a:srgbClr val="0E6B5C"/>
          </a:solidFill>
          <a:ln/>
        </p:spPr>
      </p:sp>
      <p:pic>
        <p:nvPicPr>
          <p:cNvPr id="7" name="Image 0" descr="/tmp/claude-0/-home-user-senmarket/ad06b58a-6687-5c78-b7b2-a2bff4010c5b/scratchpad/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563978"/>
            <a:ext cx="175565" cy="17556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63040" y="2414016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Fournir et configurer la plateforme sous la marque de l'opérateur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960120" y="3154680"/>
            <a:ext cx="365760" cy="365760"/>
          </a:xfrm>
          <a:prstGeom prst="ellipse">
            <a:avLst/>
          </a:prstGeom>
          <a:solidFill>
            <a:srgbClr val="0E6B5C"/>
          </a:solidFill>
          <a:ln/>
        </p:spPr>
      </p:sp>
      <p:pic>
        <p:nvPicPr>
          <p:cNvPr id="10" name="Image 1" descr="/tmp/claude-0/-home-user-senmarket/ad06b58a-6687-5c78-b7b2-a2bff4010c5b/scratchpad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218" y="3249778"/>
            <a:ext cx="175565" cy="17556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63040" y="3099816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Assurer la maintenance et le support pendant tout le pilote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960120" y="3840480"/>
            <a:ext cx="365760" cy="365760"/>
          </a:xfrm>
          <a:prstGeom prst="ellipse">
            <a:avLst/>
          </a:prstGeom>
          <a:solidFill>
            <a:srgbClr val="0E6B5C"/>
          </a:solidFill>
          <a:ln/>
        </p:spPr>
      </p:sp>
      <p:pic>
        <p:nvPicPr>
          <p:cNvPr id="13" name="Image 2" descr="/tmp/claude-0/-home-user-senmarket/ad06b58a-6687-5c78-b7b2-a2bff4010c5b/scratchpad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218" y="3935578"/>
            <a:ext cx="175565" cy="17556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63040" y="3785616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Former l'équipe et les premiers chauffeurs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960120" y="4526280"/>
            <a:ext cx="365760" cy="365760"/>
          </a:xfrm>
          <a:prstGeom prst="ellipse">
            <a:avLst/>
          </a:prstGeom>
          <a:solidFill>
            <a:srgbClr val="0E6B5C"/>
          </a:solidFill>
          <a:ln/>
        </p:spPr>
      </p:sp>
      <p:pic>
        <p:nvPicPr>
          <p:cNvPr id="16" name="Image 3" descr="/tmp/claude-0/-home-user-senmarket/ad06b58a-6687-5c78-b7b2-a2bff4010c5b/scratchpad/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5218" y="4621378"/>
            <a:ext cx="175565" cy="17556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463040" y="4471416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Restituer un bilan chiffré à la fin du pilote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6263640" y="1737360"/>
            <a:ext cx="5257800" cy="3931920"/>
          </a:xfrm>
          <a:prstGeom prst="roundRect">
            <a:avLst>
              <a:gd name="adj" fmla="val 1860"/>
            </a:avLst>
          </a:prstGeom>
          <a:solidFill>
            <a:srgbClr val="101B3D"/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6583680" y="196596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L'opérateur s'engage à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6583680" y="2468880"/>
            <a:ext cx="365760" cy="365760"/>
          </a:xfrm>
          <a:prstGeom prst="ellipse">
            <a:avLst/>
          </a:prstGeom>
          <a:solidFill>
            <a:srgbClr val="FF7A28"/>
          </a:solidFill>
          <a:ln/>
        </p:spPr>
      </p:sp>
      <p:pic>
        <p:nvPicPr>
          <p:cNvPr id="21" name="Image 4" descr="/tmp/claude-0/-home-user-senmarket/ad06b58a-6687-5c78-b7b2-a2bff4010c5b/scratchpad/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8778" y="2563978"/>
            <a:ext cx="175565" cy="175565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086600" y="2414016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Fournir 5 à 10 chauffeurs pilotes pour démarrer</a:t>
            </a:r>
            <a:endParaRPr lang="en-US" sz="1250" dirty="0"/>
          </a:p>
        </p:txBody>
      </p:sp>
      <p:sp>
        <p:nvSpPr>
          <p:cNvPr id="23" name="Shape 16"/>
          <p:cNvSpPr/>
          <p:nvPr/>
        </p:nvSpPr>
        <p:spPr>
          <a:xfrm>
            <a:off x="6583680" y="3154680"/>
            <a:ext cx="365760" cy="365760"/>
          </a:xfrm>
          <a:prstGeom prst="ellipse">
            <a:avLst/>
          </a:prstGeom>
          <a:solidFill>
            <a:srgbClr val="FF7A28"/>
          </a:solidFill>
          <a:ln/>
        </p:spPr>
      </p:sp>
      <p:pic>
        <p:nvPicPr>
          <p:cNvPr id="24" name="Image 5" descr="/tmp/claude-0/-home-user-senmarket/ad06b58a-6687-5c78-b7b2-a2bff4010c5b/scratchpad/icons/che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8778" y="3249778"/>
            <a:ext cx="175565" cy="175565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086600" y="3099816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Désigner un référent pour la configuration</a:t>
            </a:r>
            <a:endParaRPr lang="en-US" sz="1250" dirty="0"/>
          </a:p>
        </p:txBody>
      </p:sp>
      <p:sp>
        <p:nvSpPr>
          <p:cNvPr id="26" name="Shape 18"/>
          <p:cNvSpPr/>
          <p:nvPr/>
        </p:nvSpPr>
        <p:spPr>
          <a:xfrm>
            <a:off x="6583680" y="3840480"/>
            <a:ext cx="365760" cy="365760"/>
          </a:xfrm>
          <a:prstGeom prst="ellipse">
            <a:avLst/>
          </a:prstGeom>
          <a:solidFill>
            <a:srgbClr val="FF7A28"/>
          </a:solidFill>
          <a:ln/>
        </p:spPr>
      </p:sp>
      <p:pic>
        <p:nvPicPr>
          <p:cNvPr id="27" name="Image 6" descr="/tmp/claude-0/-home-user-senmarket/ad06b58a-6687-5c78-b7b2-a2bff4010c5b/scratchpad/icons/che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8778" y="3935578"/>
            <a:ext cx="175565" cy="175565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7086600" y="3785616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Communiquer sa grille tarifaire de zones</a:t>
            </a:r>
            <a:endParaRPr lang="en-US" sz="1250" dirty="0"/>
          </a:p>
        </p:txBody>
      </p:sp>
      <p:sp>
        <p:nvSpPr>
          <p:cNvPr id="29" name="Shape 20"/>
          <p:cNvSpPr/>
          <p:nvPr/>
        </p:nvSpPr>
        <p:spPr>
          <a:xfrm>
            <a:off x="6583680" y="4526280"/>
            <a:ext cx="365760" cy="365760"/>
          </a:xfrm>
          <a:prstGeom prst="ellipse">
            <a:avLst/>
          </a:prstGeom>
          <a:solidFill>
            <a:srgbClr val="FF7A28"/>
          </a:solidFill>
          <a:ln/>
        </p:spPr>
      </p:sp>
      <p:pic>
        <p:nvPicPr>
          <p:cNvPr id="30" name="Image 7" descr="/tmp/claude-0/-home-user-senmarket/ad06b58a-6687-5c78-b7b2-a2bff4010c5b/scratchpad/icons/check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8778" y="4621378"/>
            <a:ext cx="175565" cy="175565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7086600" y="4471416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Faire remonter les retours du lancement fermé</a:t>
            </a:r>
            <a:endParaRPr lang="en-US" sz="1250" dirty="0"/>
          </a:p>
        </p:txBody>
      </p:sp>
      <p:sp>
        <p:nvSpPr>
          <p:cNvPr id="32" name="Text 2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OS Maroc</a:t>
            </a:r>
            <a:endParaRPr lang="en-US" sz="900" dirty="0"/>
          </a:p>
        </p:txBody>
      </p:sp>
      <p:sp>
        <p:nvSpPr>
          <p:cNvPr id="33" name="Text 23"/>
          <p:cNvSpPr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— Partenariat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8229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Prochaines étapes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822960" y="2103120"/>
            <a:ext cx="502920" cy="502920"/>
          </a:xfrm>
          <a:prstGeom prst="ellipse">
            <a:avLst/>
          </a:prstGeom>
          <a:solidFill>
            <a:srgbClr val="FF7A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103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121408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Signer l'expression d'intérêt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2971800"/>
            <a:ext cx="502920" cy="502920"/>
          </a:xfrm>
          <a:prstGeom prst="ellipse">
            <a:avLst/>
          </a:prstGeom>
          <a:solidFill>
            <a:srgbClr val="FF7A2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971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990088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la ville et la zone du pilote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3840480"/>
            <a:ext cx="502920" cy="502920"/>
          </a:xfrm>
          <a:prstGeom prst="ellipse">
            <a:avLst/>
          </a:prstGeom>
          <a:solidFill>
            <a:srgbClr val="FF7A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3858768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Démarrer le cadrage (Phase 0) cette semaine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21208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7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Merci.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943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FlowDynamicsAgency — Mobility OS Maroc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2026-09-01T00:14:52Z</dcterms:created>
  <dcterms:modified xsi:type="dcterms:W3CDTF">2026-09-01T00:14:52Z</dcterms:modified>
</cp:coreProperties>
</file>